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notesMasterIdLst>
    <p:notesMasterId r:id="rId16"/>
  </p:notesMasterIdLst>
  <p:handoutMasterIdLst>
    <p:handoutMasterId r:id="rId17"/>
  </p:handoutMasterIdLst>
  <p:sldIdLst>
    <p:sldId id="271" r:id="rId5"/>
    <p:sldId id="312" r:id="rId6"/>
    <p:sldId id="318" r:id="rId7"/>
    <p:sldId id="338" r:id="rId8"/>
    <p:sldId id="339" r:id="rId9"/>
    <p:sldId id="340" r:id="rId10"/>
    <p:sldId id="341" r:id="rId11"/>
    <p:sldId id="328" r:id="rId12"/>
    <p:sldId id="342" r:id="rId13"/>
    <p:sldId id="343" r:id="rId14"/>
    <p:sldId id="344" r:id="rId15"/>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3C439A-253C-4A20-8E2E-F7480314AAA1}" v="13" dt="2025-02-12T01:55:13.5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0" autoAdjust="0"/>
    <p:restoredTop sz="73919" autoAdjust="0"/>
  </p:normalViewPr>
  <p:slideViewPr>
    <p:cSldViewPr snapToGrid="0" snapToObjects="1" showGuides="1">
      <p:cViewPr varScale="1">
        <p:scale>
          <a:sx n="34" d="100"/>
          <a:sy n="34" d="100"/>
        </p:scale>
        <p:origin x="1144" y="72"/>
      </p:cViewPr>
      <p:guideLst>
        <p:guide orient="horz" pos="4320"/>
        <p:guide pos="7680"/>
      </p:guideLst>
    </p:cSldViewPr>
  </p:slideViewPr>
  <p:notesTextViewPr>
    <p:cViewPr>
      <p:scale>
        <a:sx n="1" d="1"/>
        <a:sy n="1" d="1"/>
      </p:scale>
      <p:origin x="0" y="0"/>
    </p:cViewPr>
  </p:notesTextViewPr>
  <p:notesViewPr>
    <p:cSldViewPr snapToGrid="0" snapToObjects="1" showGuides="1">
      <p:cViewPr varScale="1">
        <p:scale>
          <a:sx n="97" d="100"/>
          <a:sy n="97" d="100"/>
        </p:scale>
        <p:origin x="312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B3F030-25FA-A543-BFBF-761F02F6E6F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DD2FF95-1FB2-5A4B-9A6E-D20FD3F889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0D85D7A-CA92-5443-B821-58789E6DAB76}" type="datetimeFigureOut">
              <a:rPr lang="en-US" smtClean="0"/>
              <a:t>1/19/2026</a:t>
            </a:fld>
            <a:endParaRPr lang="en-US"/>
          </a:p>
        </p:txBody>
      </p:sp>
      <p:sp>
        <p:nvSpPr>
          <p:cNvPr id="4" name="Footer Placeholder 3">
            <a:extLst>
              <a:ext uri="{FF2B5EF4-FFF2-40B4-BE49-F238E27FC236}">
                <a16:creationId xmlns:a16="http://schemas.microsoft.com/office/drawing/2014/main" id="{E2E767D0-AB74-6C43-A583-F67E29C6873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C3F816A-9129-4E41-8433-93B18C20AF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C43503-5B3B-BC4A-B035-E280D65815FD}" type="slidenum">
              <a:rPr lang="en-US" smtClean="0"/>
              <a:t>‹#›</a:t>
            </a:fld>
            <a:endParaRPr lang="en-US"/>
          </a:p>
        </p:txBody>
      </p:sp>
    </p:spTree>
    <p:extLst>
      <p:ext uri="{BB962C8B-B14F-4D97-AF65-F5344CB8AC3E}">
        <p14:creationId xmlns:p14="http://schemas.microsoft.com/office/powerpoint/2010/main" val="23295409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A1C7B9-A579-490D-96A9-04D5B7898F72}" type="datetimeFigureOut">
              <a:rPr lang="en-CA" smtClean="0"/>
              <a:t>2026-01-19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E641A9-FDE3-4583-B812-65C4064188F6}" type="slidenum">
              <a:rPr lang="en-CA" smtClean="0"/>
              <a:t>‹#›</a:t>
            </a:fld>
            <a:endParaRPr lang="en-CA"/>
          </a:p>
        </p:txBody>
      </p:sp>
    </p:spTree>
    <p:extLst>
      <p:ext uri="{BB962C8B-B14F-4D97-AF65-F5344CB8AC3E}">
        <p14:creationId xmlns:p14="http://schemas.microsoft.com/office/powerpoint/2010/main" val="4123227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85799" y="5078186"/>
            <a:ext cx="21210814" cy="2937782"/>
          </a:xfrm>
        </p:spPr>
        <p:txBody>
          <a:bodyPr anchor="t">
            <a:noAutofit/>
          </a:bodyPr>
          <a:lstStyle>
            <a:lvl1pPr algn="ctr">
              <a:lnSpc>
                <a:spcPct val="100000"/>
              </a:lnSpc>
              <a:defRPr sz="9600" cap="all"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1585799" y="8752114"/>
            <a:ext cx="21210814" cy="2269673"/>
          </a:xfrm>
        </p:spPr>
        <p:txBody>
          <a:bodyPr/>
          <a:lstStyle>
            <a:lvl1pPr marL="0" indent="0" algn="ctr">
              <a:buNone/>
              <a:defRPr sz="4800">
                <a:solidFill>
                  <a:schemeClr val="bg2"/>
                </a:solidFill>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US"/>
              <a:t>Click to edit Master subtitle style</a:t>
            </a:r>
            <a:endParaRPr lang="en-US" dirty="0"/>
          </a:p>
        </p:txBody>
      </p:sp>
    </p:spTree>
    <p:extLst>
      <p:ext uri="{BB962C8B-B14F-4D97-AF65-F5344CB8AC3E}">
        <p14:creationId xmlns:p14="http://schemas.microsoft.com/office/powerpoint/2010/main" val="3018503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7200">
                <a:solidFill>
                  <a:schemeClr val="accent1"/>
                </a:solidFill>
              </a:defRPr>
            </a:lvl1pPr>
          </a:lstStyle>
          <a:p>
            <a:r>
              <a:rPr lang="en-US" dirty="0"/>
              <a:t>CLICK TO EDIT MASTER TITLE STYLE</a:t>
            </a:r>
          </a:p>
        </p:txBody>
      </p:sp>
      <p:sp>
        <p:nvSpPr>
          <p:cNvPr id="3" name="Content Placeholder 2"/>
          <p:cNvSpPr>
            <a:spLocks noGrp="1"/>
          </p:cNvSpPr>
          <p:nvPr>
            <p:ph idx="1"/>
          </p:nvPr>
        </p:nvSpPr>
        <p:spPr>
          <a:xfrm>
            <a:off x="1676291" y="3651250"/>
            <a:ext cx="21029831" cy="73738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a:extLst>
              <a:ext uri="{FF2B5EF4-FFF2-40B4-BE49-F238E27FC236}">
                <a16:creationId xmlns:a16="http://schemas.microsoft.com/office/drawing/2014/main" id="{67BAD23F-0E93-DF4A-8F98-CC7CE27E2020}"/>
              </a:ext>
            </a:extLst>
          </p:cNvPr>
          <p:cNvSpPr txBox="1"/>
          <p:nvPr userDrawn="1"/>
        </p:nvSpPr>
        <p:spPr>
          <a:xfrm>
            <a:off x="3962400" y="135987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025977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7200" cap="all" baseline="0"/>
            </a:lvl1pPr>
          </a:lstStyle>
          <a:p>
            <a:r>
              <a:rPr lang="en-US"/>
              <a:t>Click to edit Master title style</a:t>
            </a:r>
            <a:endParaRPr lang="en-US" dirty="0"/>
          </a:p>
        </p:txBody>
      </p:sp>
      <p:sp>
        <p:nvSpPr>
          <p:cNvPr id="3" name="Content Placeholder 2"/>
          <p:cNvSpPr>
            <a:spLocks noGrp="1"/>
          </p:cNvSpPr>
          <p:nvPr>
            <p:ph sz="half" idx="1"/>
          </p:nvPr>
        </p:nvSpPr>
        <p:spPr>
          <a:xfrm>
            <a:off x="1676291" y="3651249"/>
            <a:ext cx="10362526" cy="9101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343596" y="3651250"/>
            <a:ext cx="10362526" cy="7566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9497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Highlight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7200" cap="all" baseline="0">
                <a:solidFill>
                  <a:schemeClr val="bg2"/>
                </a:solidFill>
              </a:defRPr>
            </a:lvl1pPr>
          </a:lstStyle>
          <a:p>
            <a:r>
              <a:rPr lang="en-US"/>
              <a:t>Click to edit Master title style</a:t>
            </a:r>
            <a:endParaRPr lang="en-US" dirty="0"/>
          </a:p>
        </p:txBody>
      </p:sp>
      <p:sp>
        <p:nvSpPr>
          <p:cNvPr id="3" name="Content Placeholder 2"/>
          <p:cNvSpPr>
            <a:spLocks noGrp="1"/>
          </p:cNvSpPr>
          <p:nvPr>
            <p:ph idx="1"/>
          </p:nvPr>
        </p:nvSpPr>
        <p:spPr>
          <a:xfrm>
            <a:off x="1676291" y="3651250"/>
            <a:ext cx="21029831" cy="6962321"/>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45748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AADA339-B7CC-2B4C-9CB9-A33E03B63410}"/>
              </a:ext>
            </a:extLst>
          </p:cNvPr>
          <p:cNvSpPr>
            <a:spLocks noGrp="1"/>
          </p:cNvSpPr>
          <p:nvPr>
            <p:ph type="ctrTitle"/>
          </p:nvPr>
        </p:nvSpPr>
        <p:spPr>
          <a:xfrm>
            <a:off x="1585799" y="5570555"/>
            <a:ext cx="21210814" cy="2937782"/>
          </a:xfrm>
        </p:spPr>
        <p:txBody>
          <a:bodyPr anchor="t">
            <a:noAutofit/>
          </a:bodyPr>
          <a:lstStyle>
            <a:lvl1pPr algn="ctr">
              <a:lnSpc>
                <a:spcPct val="100000"/>
              </a:lnSpc>
              <a:defRPr sz="8000" cap="all" baseline="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3391353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for large charts/images/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587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starburs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875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en-US" dirty="0"/>
              <a:t>CLICK ADD TITLE</a:t>
            </a:r>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76291" y="12712701"/>
            <a:ext cx="5486043" cy="730250"/>
          </a:xfrm>
          <a:prstGeom prst="rect">
            <a:avLst/>
          </a:prstGeom>
        </p:spPr>
        <p:txBody>
          <a:bodyPr vert="horz" lIns="91440" tIns="45720" rIns="91440" bIns="45720" rtlCol="0" anchor="ctr"/>
          <a:lstStyle>
            <a:lvl1pPr algn="l">
              <a:defRPr sz="2400" b="0" i="0">
                <a:solidFill>
                  <a:schemeClr val="tx1">
                    <a:tint val="75000"/>
                  </a:schemeClr>
                </a:solidFill>
                <a:latin typeface="Arial" panose="020B0604020202020204" pitchFamily="34" charset="0"/>
                <a:cs typeface="Arial" panose="020B0604020202020204" pitchFamily="34" charset="0"/>
              </a:defRPr>
            </a:lvl1pPr>
          </a:lstStyle>
          <a:p>
            <a:fld id="{1D4256BD-EBF6-F04C-B88C-52582AC3F228}" type="datetimeFigureOut">
              <a:rPr lang="en-US" smtClean="0"/>
              <a:pPr/>
              <a:t>1/19/2026</a:t>
            </a:fld>
            <a:endParaRPr lang="en-US"/>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b="0" i="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17220079" y="12712701"/>
            <a:ext cx="5486043" cy="730250"/>
          </a:xfrm>
          <a:prstGeom prst="rect">
            <a:avLst/>
          </a:prstGeom>
        </p:spPr>
        <p:txBody>
          <a:bodyPr vert="horz" lIns="91440" tIns="45720" rIns="91440" bIns="45720" rtlCol="0" anchor="ctr"/>
          <a:lstStyle>
            <a:lvl1pPr algn="r">
              <a:defRPr sz="2400" b="0" i="0">
                <a:solidFill>
                  <a:schemeClr val="tx1">
                    <a:tint val="75000"/>
                  </a:schemeClr>
                </a:solidFill>
                <a:latin typeface="Arial" panose="020B0604020202020204" pitchFamily="34" charset="0"/>
                <a:cs typeface="Arial" panose="020B0604020202020204" pitchFamily="34" charset="0"/>
              </a:defRPr>
            </a:lvl1pPr>
          </a:lstStyle>
          <a:p>
            <a:fld id="{43E0FCCE-2EC3-1049-A592-35D9C6652762}" type="slidenum">
              <a:rPr lang="en-US" smtClean="0"/>
              <a:pPr/>
              <a:t>‹#›</a:t>
            </a:fld>
            <a:endParaRPr lang="en-US"/>
          </a:p>
        </p:txBody>
      </p:sp>
    </p:spTree>
    <p:extLst>
      <p:ext uri="{BB962C8B-B14F-4D97-AF65-F5344CB8AC3E}">
        <p14:creationId xmlns:p14="http://schemas.microsoft.com/office/powerpoint/2010/main" val="2033442270"/>
      </p:ext>
    </p:extLst>
  </p:cSld>
  <p:clrMap bg1="lt1" tx1="dk1" bg2="lt2" tx2="dk2" accent1="accent1" accent2="accent2" accent3="accent3" accent4="accent4" accent5="accent5" accent6="accent6" hlink="hlink" folHlink="folHlink"/>
  <p:sldLayoutIdLst>
    <p:sldLayoutId id="2147483700" r:id="rId1"/>
    <p:sldLayoutId id="2147483698" r:id="rId2"/>
    <p:sldLayoutId id="2147483695" r:id="rId3"/>
    <p:sldLayoutId id="2147483676" r:id="rId4"/>
    <p:sldLayoutId id="2147483703" r:id="rId5"/>
    <p:sldLayoutId id="2147483704" r:id="rId6"/>
    <p:sldLayoutId id="2147483705" r:id="rId7"/>
  </p:sldLayoutIdLst>
  <p:txStyles>
    <p:titleStyle>
      <a:lvl1pPr algn="l" defTabSz="1828709" rtl="0" eaLnBrk="1" latinLnBrk="0" hangingPunct="1">
        <a:lnSpc>
          <a:spcPct val="90000"/>
        </a:lnSpc>
        <a:spcBef>
          <a:spcPct val="0"/>
        </a:spcBef>
        <a:buNone/>
        <a:defRPr sz="7200" b="1" i="0" kern="1200">
          <a:solidFill>
            <a:schemeClr val="accent1"/>
          </a:solidFill>
          <a:latin typeface="Arial" panose="020B0604020202020204" pitchFamily="34" charset="0"/>
          <a:ea typeface="+mj-ea"/>
          <a:cs typeface="Arial" panose="020B0604020202020204" pitchFamily="34" charset="0"/>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sz="5600" b="0" i="0" kern="1200">
          <a:solidFill>
            <a:schemeClr val="tx1"/>
          </a:solidFill>
          <a:latin typeface="Arial" panose="020B0604020202020204" pitchFamily="34" charset="0"/>
          <a:ea typeface="+mn-ea"/>
          <a:cs typeface="Arial" panose="020B0604020202020204" pitchFamily="34" charset="0"/>
        </a:defRPr>
      </a:lvl1pPr>
      <a:lvl2pPr marL="1371531" indent="-457177" algn="l" defTabSz="1828709" rtl="0" eaLnBrk="1" latinLnBrk="0" hangingPunct="1">
        <a:lnSpc>
          <a:spcPct val="90000"/>
        </a:lnSpc>
        <a:spcBef>
          <a:spcPts val="1000"/>
        </a:spcBef>
        <a:buFont typeface="Arial" panose="020B0604020202020204" pitchFamily="34" charset="0"/>
        <a:buChar char="•"/>
        <a:defRPr sz="4800" b="0" i="0" kern="1200">
          <a:solidFill>
            <a:schemeClr val="tx1"/>
          </a:solidFill>
          <a:latin typeface="Arial" panose="020B0604020202020204" pitchFamily="34" charset="0"/>
          <a:ea typeface="+mn-ea"/>
          <a:cs typeface="Arial" panose="020B0604020202020204" pitchFamily="34" charset="0"/>
        </a:defRPr>
      </a:lvl2pPr>
      <a:lvl3pPr marL="2285886" indent="-457177" algn="l" defTabSz="1828709" rtl="0" eaLnBrk="1" latinLnBrk="0" hangingPunct="1">
        <a:lnSpc>
          <a:spcPct val="90000"/>
        </a:lnSpc>
        <a:spcBef>
          <a:spcPts val="1000"/>
        </a:spcBef>
        <a:buFont typeface="Arial" panose="020B0604020202020204" pitchFamily="34" charset="0"/>
        <a:buChar char="•"/>
        <a:defRPr sz="4000" b="0" i="0" kern="1200">
          <a:solidFill>
            <a:schemeClr val="tx1"/>
          </a:solidFill>
          <a:latin typeface="Arial" panose="020B0604020202020204" pitchFamily="34" charset="0"/>
          <a:ea typeface="+mn-ea"/>
          <a:cs typeface="Arial" panose="020B0604020202020204" pitchFamily="34" charset="0"/>
        </a:defRPr>
      </a:lvl3pPr>
      <a:lvl4pPr marL="3200240" indent="-457177" algn="l" defTabSz="1828709" rtl="0" eaLnBrk="1" latinLnBrk="0" hangingPunct="1">
        <a:lnSpc>
          <a:spcPct val="90000"/>
        </a:lnSpc>
        <a:spcBef>
          <a:spcPts val="1000"/>
        </a:spcBef>
        <a:buFont typeface="Arial" panose="020B0604020202020204" pitchFamily="34" charset="0"/>
        <a:buChar char="•"/>
        <a:defRPr sz="3600" b="0" i="0" kern="1200">
          <a:solidFill>
            <a:schemeClr val="tx1"/>
          </a:solidFill>
          <a:latin typeface="Arial" panose="020B0604020202020204" pitchFamily="34" charset="0"/>
          <a:ea typeface="+mn-ea"/>
          <a:cs typeface="Arial" panose="020B0604020202020204" pitchFamily="34" charset="0"/>
        </a:defRPr>
      </a:lvl4pPr>
      <a:lvl5pPr marL="4114594" indent="-457177" algn="l" defTabSz="1828709" rtl="0" eaLnBrk="1" latinLnBrk="0" hangingPunct="1">
        <a:lnSpc>
          <a:spcPct val="90000"/>
        </a:lnSpc>
        <a:spcBef>
          <a:spcPts val="1000"/>
        </a:spcBef>
        <a:buFont typeface="Arial" panose="020B0604020202020204" pitchFamily="34" charset="0"/>
        <a:buChar char="•"/>
        <a:defRPr sz="3600" b="0" i="0" kern="1200">
          <a:solidFill>
            <a:schemeClr val="tx1"/>
          </a:solidFill>
          <a:latin typeface="Arial" panose="020B0604020202020204" pitchFamily="34" charset="0"/>
          <a:ea typeface="+mn-ea"/>
          <a:cs typeface="Arial" panose="020B0604020202020204" pitchFamily="34" charset="0"/>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34F75-93C1-9D40-86A3-4C13A50E20D0}"/>
              </a:ext>
            </a:extLst>
          </p:cNvPr>
          <p:cNvSpPr>
            <a:spLocks noGrp="1"/>
          </p:cNvSpPr>
          <p:nvPr>
            <p:ph type="ctrTitle"/>
          </p:nvPr>
        </p:nvSpPr>
        <p:spPr/>
        <p:txBody>
          <a:bodyPr/>
          <a:lstStyle/>
          <a:p>
            <a:r>
              <a:rPr lang="en-US" dirty="0"/>
              <a:t>Cpsc1517</a:t>
            </a:r>
          </a:p>
        </p:txBody>
      </p:sp>
      <p:sp>
        <p:nvSpPr>
          <p:cNvPr id="3" name="Subtitle 2">
            <a:extLst>
              <a:ext uri="{FF2B5EF4-FFF2-40B4-BE49-F238E27FC236}">
                <a16:creationId xmlns:a16="http://schemas.microsoft.com/office/drawing/2014/main" id="{53D672B5-6320-EE4E-B160-EE8483FDF106}"/>
              </a:ext>
            </a:extLst>
          </p:cNvPr>
          <p:cNvSpPr>
            <a:spLocks noGrp="1"/>
          </p:cNvSpPr>
          <p:nvPr>
            <p:ph type="subTitle" idx="1"/>
          </p:nvPr>
        </p:nvSpPr>
        <p:spPr>
          <a:xfrm>
            <a:off x="1585799" y="8028214"/>
            <a:ext cx="21210814" cy="2269673"/>
          </a:xfrm>
        </p:spPr>
        <p:txBody>
          <a:bodyPr>
            <a:normAutofit/>
          </a:bodyPr>
          <a:lstStyle/>
          <a:p>
            <a:r>
              <a:rPr lang="en-US" sz="8000" dirty="0" err="1"/>
              <a:t>Blazor</a:t>
            </a:r>
            <a:r>
              <a:rPr lang="en-US" sz="8000" dirty="0"/>
              <a:t> Introduction</a:t>
            </a:r>
          </a:p>
        </p:txBody>
      </p:sp>
    </p:spTree>
    <p:extLst>
      <p:ext uri="{BB962C8B-B14F-4D97-AF65-F5344CB8AC3E}">
        <p14:creationId xmlns:p14="http://schemas.microsoft.com/office/powerpoint/2010/main" val="1088597702"/>
      </p:ext>
    </p:extLst>
  </p:cSld>
  <p:clrMapOvr>
    <a:masterClrMapping/>
  </p:clrMapOvr>
  <p:transition spd="med" advClick="0">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1512-A3A0-68FC-EA4D-9644DA669720}"/>
              </a:ext>
            </a:extLst>
          </p:cNvPr>
          <p:cNvSpPr>
            <a:spLocks noGrp="1"/>
          </p:cNvSpPr>
          <p:nvPr>
            <p:ph type="title"/>
          </p:nvPr>
        </p:nvSpPr>
        <p:spPr/>
        <p:txBody>
          <a:bodyPr/>
          <a:lstStyle/>
          <a:p>
            <a:r>
              <a:rPr lang="en-CA" dirty="0"/>
              <a:t>Lesson Objective</a:t>
            </a:r>
          </a:p>
        </p:txBody>
      </p:sp>
      <p:sp>
        <p:nvSpPr>
          <p:cNvPr id="3" name="Content Placeholder 2">
            <a:extLst>
              <a:ext uri="{FF2B5EF4-FFF2-40B4-BE49-F238E27FC236}">
                <a16:creationId xmlns:a16="http://schemas.microsoft.com/office/drawing/2014/main" id="{7DE812E9-0C28-92B4-141A-B86CEC8CB272}"/>
              </a:ext>
            </a:extLst>
          </p:cNvPr>
          <p:cNvSpPr>
            <a:spLocks noGrp="1"/>
          </p:cNvSpPr>
          <p:nvPr>
            <p:ph idx="1"/>
          </p:nvPr>
        </p:nvSpPr>
        <p:spPr/>
        <p:txBody>
          <a:bodyPr>
            <a:normAutofit fontScale="92500" lnSpcReduction="10000"/>
          </a:bodyPr>
          <a:lstStyle/>
          <a:p>
            <a:pPr marL="0" indent="0">
              <a:buNone/>
            </a:pPr>
            <a:r>
              <a:rPr lang="en-CA" dirty="0"/>
              <a:t>By the end of this lesson, learners should be able to:</a:t>
            </a:r>
          </a:p>
          <a:p>
            <a:pPr marL="914354" lvl="1" indent="0">
              <a:buNone/>
            </a:pPr>
            <a:endParaRPr lang="en-CA" dirty="0"/>
          </a:p>
          <a:p>
            <a:r>
              <a:rPr lang="en-US" dirty="0"/>
              <a:t>Overview of </a:t>
            </a:r>
            <a:r>
              <a:rPr lang="en-US" dirty="0" err="1"/>
              <a:t>Blazor</a:t>
            </a:r>
            <a:r>
              <a:rPr lang="en-US" dirty="0"/>
              <a:t> </a:t>
            </a:r>
          </a:p>
          <a:p>
            <a:r>
              <a:rPr lang="en-US" dirty="0"/>
              <a:t>Create a </a:t>
            </a:r>
            <a:r>
              <a:rPr lang="en-US" dirty="0" err="1"/>
              <a:t>Blazor</a:t>
            </a:r>
            <a:r>
              <a:rPr lang="en-US" dirty="0"/>
              <a:t> solution/project</a:t>
            </a:r>
          </a:p>
          <a:p>
            <a:r>
              <a:rPr lang="en-US" dirty="0"/>
              <a:t>Identify components of project</a:t>
            </a:r>
          </a:p>
          <a:p>
            <a:r>
              <a:rPr lang="en-US" dirty="0"/>
              <a:t>Add a page and menu item</a:t>
            </a:r>
          </a:p>
          <a:p>
            <a:r>
              <a:rPr lang="en-US" dirty="0"/>
              <a:t>Play with some html and </a:t>
            </a:r>
            <a:r>
              <a:rPr lang="en-US" dirty="0" err="1"/>
              <a:t>css</a:t>
            </a:r>
            <a:r>
              <a:rPr lang="en-US" dirty="0"/>
              <a:t> on page</a:t>
            </a:r>
          </a:p>
          <a:p>
            <a:r>
              <a:rPr lang="en-US" dirty="0"/>
              <a:t>Create a page to practice basic button events (may only get a start on this page)</a:t>
            </a:r>
          </a:p>
        </p:txBody>
      </p:sp>
    </p:spTree>
    <p:extLst>
      <p:ext uri="{BB962C8B-B14F-4D97-AF65-F5344CB8AC3E}">
        <p14:creationId xmlns:p14="http://schemas.microsoft.com/office/powerpoint/2010/main" val="124031946"/>
      </p:ext>
    </p:extLst>
  </p:cSld>
  <p:clrMapOvr>
    <a:masterClrMapping/>
  </p:clrMapOvr>
  <p:transition spd="med" advClick="0">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CFFA-ED5D-AF84-71D8-8E142EE68C49}"/>
              </a:ext>
            </a:extLst>
          </p:cNvPr>
          <p:cNvSpPr>
            <a:spLocks noGrp="1"/>
          </p:cNvSpPr>
          <p:nvPr>
            <p:ph type="title"/>
          </p:nvPr>
        </p:nvSpPr>
        <p:spPr/>
        <p:txBody>
          <a:bodyPr/>
          <a:lstStyle/>
          <a:p>
            <a:r>
              <a:rPr lang="en-US" dirty="0" err="1"/>
              <a:t>Blazor</a:t>
            </a:r>
            <a:r>
              <a:rPr lang="en-US" dirty="0"/>
              <a:t> Introduction </a:t>
            </a:r>
            <a:endParaRPr lang="en-CA" dirty="0"/>
          </a:p>
        </p:txBody>
      </p:sp>
      <p:sp>
        <p:nvSpPr>
          <p:cNvPr id="3" name="Content Placeholder 2">
            <a:extLst>
              <a:ext uri="{FF2B5EF4-FFF2-40B4-BE49-F238E27FC236}">
                <a16:creationId xmlns:a16="http://schemas.microsoft.com/office/drawing/2014/main" id="{4C8071FA-4C0D-595B-551A-1675DCC83D19}"/>
              </a:ext>
            </a:extLst>
          </p:cNvPr>
          <p:cNvSpPr>
            <a:spLocks noGrp="1"/>
          </p:cNvSpPr>
          <p:nvPr>
            <p:ph idx="1"/>
          </p:nvPr>
        </p:nvSpPr>
        <p:spPr>
          <a:xfrm>
            <a:off x="799991" y="3381377"/>
            <a:ext cx="22822009" cy="9188450"/>
          </a:xfrm>
        </p:spPr>
        <p:txBody>
          <a:bodyPr>
            <a:normAutofit/>
          </a:bodyPr>
          <a:lstStyle/>
          <a:p>
            <a:r>
              <a:rPr lang="en-US" b="0" i="0" dirty="0" err="1">
                <a:solidFill>
                  <a:srgbClr val="242424"/>
                </a:solidFill>
                <a:effectLst/>
                <a:latin typeface="source-serif-pro"/>
              </a:rPr>
              <a:t>Blazor</a:t>
            </a:r>
            <a:r>
              <a:rPr lang="en-US" b="0" i="0" dirty="0">
                <a:solidFill>
                  <a:srgbClr val="242424"/>
                </a:solidFill>
                <a:effectLst/>
                <a:latin typeface="source-serif-pro"/>
              </a:rPr>
              <a:t> is a modern web user interface development technology developed by Microsoft. It allows for modern web application development, such as highly interactive single-page applications (SPAs).</a:t>
            </a:r>
          </a:p>
          <a:p>
            <a:pPr marL="0" indent="0">
              <a:buNone/>
            </a:pPr>
            <a:endParaRPr lang="en-US" b="1" i="0" dirty="0">
              <a:solidFill>
                <a:schemeClr val="accent1"/>
              </a:solidFill>
              <a:effectLst/>
              <a:latin typeface="source-serif-pro"/>
            </a:endParaRPr>
          </a:p>
          <a:p>
            <a:pPr marL="0" indent="0">
              <a:buNone/>
            </a:pPr>
            <a:r>
              <a:rPr lang="en-US" b="1" i="0" dirty="0">
                <a:solidFill>
                  <a:schemeClr val="accent1"/>
                </a:solidFill>
                <a:effectLst/>
                <a:latin typeface="source-serif-pro"/>
              </a:rPr>
              <a:t>What Technologies Does </a:t>
            </a:r>
            <a:r>
              <a:rPr lang="en-US" b="1" i="0" dirty="0" err="1">
                <a:solidFill>
                  <a:schemeClr val="accent1"/>
                </a:solidFill>
                <a:effectLst/>
                <a:latin typeface="source-serif-pro"/>
              </a:rPr>
              <a:t>Blazor</a:t>
            </a:r>
            <a:r>
              <a:rPr lang="en-US" b="1" i="0" dirty="0">
                <a:solidFill>
                  <a:schemeClr val="accent1"/>
                </a:solidFill>
                <a:effectLst/>
                <a:latin typeface="source-serif-pro"/>
              </a:rPr>
              <a:t> Use?</a:t>
            </a:r>
          </a:p>
          <a:p>
            <a:r>
              <a:rPr lang="en-US" b="0" i="0" dirty="0" err="1">
                <a:solidFill>
                  <a:srgbClr val="242424"/>
                </a:solidFill>
                <a:effectLst/>
                <a:latin typeface="source-serif-pro"/>
              </a:rPr>
              <a:t>Blazor</a:t>
            </a:r>
            <a:r>
              <a:rPr lang="en-US" b="0" i="0" dirty="0">
                <a:solidFill>
                  <a:srgbClr val="242424"/>
                </a:solidFill>
                <a:effectLst/>
                <a:latin typeface="source-serif-pro"/>
              </a:rPr>
              <a:t> uses HTML, CSS and C# to create interactive client-side web user interfaces. </a:t>
            </a:r>
          </a:p>
          <a:p>
            <a:endParaRPr lang="en-US" b="0" i="0" dirty="0">
              <a:solidFill>
                <a:srgbClr val="242424"/>
              </a:solidFill>
              <a:effectLst/>
              <a:latin typeface="source-serif-pro"/>
            </a:endParaRPr>
          </a:p>
          <a:p>
            <a:pPr lvl="1"/>
            <a:r>
              <a:rPr lang="en-US" b="0" i="0" dirty="0">
                <a:solidFill>
                  <a:srgbClr val="242424"/>
                </a:solidFill>
                <a:effectLst/>
                <a:latin typeface="source-serif-pro"/>
              </a:rPr>
              <a:t>HTML and CSS to describe the user interface.</a:t>
            </a:r>
          </a:p>
          <a:p>
            <a:pPr lvl="1"/>
            <a:r>
              <a:rPr lang="en-US" b="0" i="0" dirty="0" err="1">
                <a:solidFill>
                  <a:srgbClr val="242424"/>
                </a:solidFill>
                <a:effectLst/>
                <a:latin typeface="source-serif-pro"/>
              </a:rPr>
              <a:t>Blazor</a:t>
            </a:r>
            <a:r>
              <a:rPr lang="en-US" b="0" i="0" dirty="0">
                <a:solidFill>
                  <a:srgbClr val="242424"/>
                </a:solidFill>
                <a:effectLst/>
                <a:latin typeface="source-serif-pro"/>
              </a:rPr>
              <a:t> uses C# to implement the application behavior.</a:t>
            </a:r>
          </a:p>
          <a:p>
            <a:endParaRPr lang="en-US" b="0" i="0" dirty="0">
              <a:solidFill>
                <a:srgbClr val="242424"/>
              </a:solidFill>
              <a:effectLst/>
              <a:latin typeface="source-serif-pro"/>
            </a:endParaRPr>
          </a:p>
          <a:p>
            <a:endParaRPr lang="en-US" b="0" i="0" dirty="0">
              <a:solidFill>
                <a:srgbClr val="242424"/>
              </a:solidFill>
              <a:effectLst/>
              <a:latin typeface="source-serif-pro"/>
            </a:endParaRPr>
          </a:p>
          <a:p>
            <a:endParaRPr lang="en-CA" dirty="0"/>
          </a:p>
        </p:txBody>
      </p:sp>
    </p:spTree>
    <p:extLst>
      <p:ext uri="{BB962C8B-B14F-4D97-AF65-F5344CB8AC3E}">
        <p14:creationId xmlns:p14="http://schemas.microsoft.com/office/powerpoint/2010/main" val="123426945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C4E42-22D2-AABF-D6B2-7FC3939C308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32E8824-919F-4C7D-645A-E517F5F7621C}"/>
              </a:ext>
            </a:extLst>
          </p:cNvPr>
          <p:cNvSpPr>
            <a:spLocks noGrp="1"/>
          </p:cNvSpPr>
          <p:nvPr>
            <p:ph idx="1"/>
          </p:nvPr>
        </p:nvSpPr>
        <p:spPr/>
        <p:txBody>
          <a:bodyPr>
            <a:normAutofit fontScale="92500" lnSpcReduction="20000"/>
          </a:bodyPr>
          <a:lstStyle/>
          <a:p>
            <a:r>
              <a:rPr lang="en-US" dirty="0"/>
              <a:t>Using open standards means that without any plugin or extension, </a:t>
            </a:r>
            <a:r>
              <a:rPr lang="en-US" dirty="0" err="1"/>
              <a:t>Blazor</a:t>
            </a:r>
            <a:r>
              <a:rPr lang="en-US" dirty="0"/>
              <a:t> runs in every browser on every operating system.</a:t>
            </a:r>
          </a:p>
          <a:p>
            <a:pPr marL="0" indent="0">
              <a:buNone/>
            </a:pPr>
            <a:endParaRPr lang="en-US" dirty="0"/>
          </a:p>
          <a:p>
            <a:pPr marL="0" indent="0">
              <a:buNone/>
            </a:pPr>
            <a:r>
              <a:rPr lang="en-US"/>
              <a:t>There </a:t>
            </a:r>
            <a:r>
              <a:rPr lang="en-US" dirty="0"/>
              <a:t>are four hosting </a:t>
            </a:r>
            <a:r>
              <a:rPr lang="en-US"/>
              <a:t>models:</a:t>
            </a:r>
          </a:p>
          <a:p>
            <a:pPr marL="0" indent="0">
              <a:buNone/>
            </a:pPr>
            <a:endParaRPr lang="en-US" dirty="0"/>
          </a:p>
          <a:p>
            <a:r>
              <a:rPr lang="en-US" dirty="0" err="1"/>
              <a:t>Blazor</a:t>
            </a:r>
            <a:r>
              <a:rPr lang="en-US" dirty="0"/>
              <a:t> </a:t>
            </a:r>
            <a:r>
              <a:rPr lang="en-US" dirty="0" err="1"/>
              <a:t>WebAssembly</a:t>
            </a:r>
            <a:endParaRPr lang="en-US" dirty="0"/>
          </a:p>
          <a:p>
            <a:r>
              <a:rPr lang="en-US" dirty="0" err="1"/>
              <a:t>Blazor</a:t>
            </a:r>
            <a:r>
              <a:rPr lang="en-US" dirty="0"/>
              <a:t> Server</a:t>
            </a:r>
          </a:p>
          <a:p>
            <a:r>
              <a:rPr lang="en-US" dirty="0" err="1"/>
              <a:t>Blazor</a:t>
            </a:r>
            <a:r>
              <a:rPr lang="en-US" dirty="0"/>
              <a:t> Hybrid</a:t>
            </a:r>
          </a:p>
          <a:p>
            <a:r>
              <a:rPr lang="en-US" dirty="0" err="1"/>
              <a:t>Blazor</a:t>
            </a:r>
            <a:r>
              <a:rPr lang="en-US" dirty="0"/>
              <a:t> United</a:t>
            </a:r>
          </a:p>
          <a:p>
            <a:endParaRPr lang="en-US" dirty="0"/>
          </a:p>
          <a:p>
            <a:endParaRPr lang="en-CA" dirty="0"/>
          </a:p>
        </p:txBody>
      </p:sp>
    </p:spTree>
    <p:extLst>
      <p:ext uri="{BB962C8B-B14F-4D97-AF65-F5344CB8AC3E}">
        <p14:creationId xmlns:p14="http://schemas.microsoft.com/office/powerpoint/2010/main" val="3684112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C077F-1C9F-3330-0CDC-ECA6B358E45D}"/>
              </a:ext>
            </a:extLst>
          </p:cNvPr>
          <p:cNvSpPr>
            <a:spLocks noGrp="1"/>
          </p:cNvSpPr>
          <p:nvPr>
            <p:ph type="title"/>
          </p:nvPr>
        </p:nvSpPr>
        <p:spPr>
          <a:xfrm>
            <a:off x="990491" y="3219449"/>
            <a:ext cx="10001359" cy="1152527"/>
          </a:xfrm>
        </p:spPr>
        <p:txBody>
          <a:bodyPr/>
          <a:lstStyle/>
          <a:p>
            <a:r>
              <a:rPr lang="en-US" dirty="0" err="1"/>
              <a:t>Blazor</a:t>
            </a:r>
            <a:r>
              <a:rPr lang="en-US" dirty="0"/>
              <a:t> </a:t>
            </a:r>
            <a:r>
              <a:rPr lang="en-US" dirty="0" err="1"/>
              <a:t>WebAssembly</a:t>
            </a:r>
            <a:endParaRPr lang="en-CA" dirty="0"/>
          </a:p>
        </p:txBody>
      </p:sp>
      <p:sp>
        <p:nvSpPr>
          <p:cNvPr id="3" name="Content Placeholder 2">
            <a:extLst>
              <a:ext uri="{FF2B5EF4-FFF2-40B4-BE49-F238E27FC236}">
                <a16:creationId xmlns:a16="http://schemas.microsoft.com/office/drawing/2014/main" id="{155279FB-703B-8B85-0657-BA69A8B5DE03}"/>
              </a:ext>
            </a:extLst>
          </p:cNvPr>
          <p:cNvSpPr>
            <a:spLocks noGrp="1"/>
          </p:cNvSpPr>
          <p:nvPr>
            <p:ph idx="1"/>
          </p:nvPr>
        </p:nvSpPr>
        <p:spPr>
          <a:xfrm>
            <a:off x="11677650" y="2895600"/>
            <a:ext cx="11906250" cy="8129451"/>
          </a:xfrm>
        </p:spPr>
        <p:txBody>
          <a:bodyPr>
            <a:normAutofit fontScale="70000" lnSpcReduction="20000"/>
          </a:bodyPr>
          <a:lstStyle/>
          <a:p>
            <a:pPr>
              <a:lnSpc>
                <a:spcPct val="120000"/>
              </a:lnSpc>
            </a:pPr>
            <a:r>
              <a:rPr lang="en-US" dirty="0" err="1"/>
              <a:t>Blazor</a:t>
            </a:r>
            <a:r>
              <a:rPr lang="en-US" dirty="0"/>
              <a:t> </a:t>
            </a:r>
            <a:r>
              <a:rPr lang="en-US" dirty="0" err="1"/>
              <a:t>WebAssembly</a:t>
            </a:r>
            <a:r>
              <a:rPr lang="en-US" dirty="0"/>
              <a:t> is the most known model where the .NET code runs in the browser on </a:t>
            </a:r>
            <a:r>
              <a:rPr lang="en-US" dirty="0" err="1"/>
              <a:t>WebAssembly</a:t>
            </a:r>
            <a:r>
              <a:rPr lang="en-US" dirty="0"/>
              <a:t>, With the first request to the website, the browser downloads the application, including a .NET runtime. The application code is written in C#, and the .NET runtime translates the C# code into web assembly at runtime.</a:t>
            </a:r>
          </a:p>
          <a:p>
            <a:pPr>
              <a:lnSpc>
                <a:spcPct val="120000"/>
              </a:lnSpc>
            </a:pPr>
            <a:r>
              <a:rPr lang="en-US" dirty="0"/>
              <a:t> The advantage is that once downloaded, the whole application code is on the device, and execution based on web assembly can be done client-side. The client only connects to the backend to fetch additional data. This approach makes </a:t>
            </a:r>
            <a:r>
              <a:rPr lang="en-US" dirty="0" err="1"/>
              <a:t>Blazor</a:t>
            </a:r>
            <a:r>
              <a:rPr lang="en-US" dirty="0"/>
              <a:t> </a:t>
            </a:r>
            <a:r>
              <a:rPr lang="en-US" dirty="0" err="1"/>
              <a:t>WebAssembly</a:t>
            </a:r>
            <a:r>
              <a:rPr lang="en-US" dirty="0"/>
              <a:t> massively scalable.</a:t>
            </a:r>
            <a:endParaRPr lang="en-CA" dirty="0"/>
          </a:p>
        </p:txBody>
      </p:sp>
      <p:pic>
        <p:nvPicPr>
          <p:cNvPr id="6" name="Picture 5" descr="Client's browser has WASM, .NET Runtime and App code. It does data fetching with the server, which contains APIs.">
            <a:extLst>
              <a:ext uri="{FF2B5EF4-FFF2-40B4-BE49-F238E27FC236}">
                <a16:creationId xmlns:a16="http://schemas.microsoft.com/office/drawing/2014/main" id="{237A9D74-B992-489D-BBDD-05E0CCFCBC5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9807" y="5105400"/>
            <a:ext cx="11607844" cy="4738551"/>
          </a:xfrm>
          <a:prstGeom prst="rect">
            <a:avLst/>
          </a:prstGeom>
          <a:noFill/>
          <a:ln>
            <a:noFill/>
          </a:ln>
        </p:spPr>
      </p:pic>
    </p:spTree>
    <p:extLst>
      <p:ext uri="{BB962C8B-B14F-4D97-AF65-F5344CB8AC3E}">
        <p14:creationId xmlns:p14="http://schemas.microsoft.com/office/powerpoint/2010/main" val="4040763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7BB53-EB23-460C-7B48-BD2B52CE0AE1}"/>
              </a:ext>
            </a:extLst>
          </p:cNvPr>
          <p:cNvSpPr>
            <a:spLocks noGrp="1"/>
          </p:cNvSpPr>
          <p:nvPr>
            <p:ph type="title"/>
          </p:nvPr>
        </p:nvSpPr>
        <p:spPr>
          <a:xfrm>
            <a:off x="1676291" y="730251"/>
            <a:ext cx="7143859" cy="2651126"/>
          </a:xfrm>
        </p:spPr>
        <p:txBody>
          <a:bodyPr/>
          <a:lstStyle/>
          <a:p>
            <a:r>
              <a:rPr lang="en-US" dirty="0" err="1"/>
              <a:t>Blazor</a:t>
            </a:r>
            <a:r>
              <a:rPr lang="en-US" dirty="0"/>
              <a:t> Server</a:t>
            </a:r>
            <a:endParaRPr lang="en-CA" dirty="0"/>
          </a:p>
        </p:txBody>
      </p:sp>
      <p:sp>
        <p:nvSpPr>
          <p:cNvPr id="3" name="Content Placeholder 2">
            <a:extLst>
              <a:ext uri="{FF2B5EF4-FFF2-40B4-BE49-F238E27FC236}">
                <a16:creationId xmlns:a16="http://schemas.microsoft.com/office/drawing/2014/main" id="{DAB48FE0-2184-32B0-0461-16FAFAA0574C}"/>
              </a:ext>
            </a:extLst>
          </p:cNvPr>
          <p:cNvSpPr>
            <a:spLocks noGrp="1"/>
          </p:cNvSpPr>
          <p:nvPr>
            <p:ph idx="1"/>
          </p:nvPr>
        </p:nvSpPr>
        <p:spPr>
          <a:xfrm>
            <a:off x="12191206" y="952501"/>
            <a:ext cx="11639659" cy="9802678"/>
          </a:xfrm>
        </p:spPr>
        <p:txBody>
          <a:bodyPr>
            <a:normAutofit fontScale="62500" lnSpcReduction="20000"/>
          </a:bodyPr>
          <a:lstStyle/>
          <a:p>
            <a:pPr>
              <a:lnSpc>
                <a:spcPct val="120000"/>
              </a:lnSpc>
            </a:pPr>
            <a:r>
              <a:rPr lang="en-US" dirty="0"/>
              <a:t>The web app runs on the server, and the client connects using a </a:t>
            </a:r>
            <a:r>
              <a:rPr lang="en-US" dirty="0" err="1"/>
              <a:t>SignalR</a:t>
            </a:r>
            <a:r>
              <a:rPr lang="en-US" dirty="0"/>
              <a:t> (web socket) connection.</a:t>
            </a:r>
          </a:p>
          <a:p>
            <a:pPr>
              <a:lnSpc>
                <a:spcPct val="120000"/>
              </a:lnSpc>
            </a:pPr>
            <a:r>
              <a:rPr lang="en-US" dirty="0"/>
              <a:t>This approach requires a server capable of executing .NET code because the application runs on the server, usually in an ASP.NET Core web application. Scalability has its limitations because every client connects to the server using a persistent web socket connection using </a:t>
            </a:r>
            <a:r>
              <a:rPr lang="en-US" dirty="0" err="1"/>
              <a:t>SignalR</a:t>
            </a:r>
            <a:r>
              <a:rPr lang="en-US" dirty="0"/>
              <a:t>.</a:t>
            </a:r>
          </a:p>
          <a:p>
            <a:pPr>
              <a:lnSpc>
                <a:spcPct val="120000"/>
              </a:lnSpc>
            </a:pPr>
            <a:r>
              <a:rPr lang="en-US" dirty="0"/>
              <a:t>However, it has a faster download and initial page rendering because only HTML and CSS that appear on the screen are transferred from the server to the client. You also have full access to backend technologies because your code runs on the server.</a:t>
            </a:r>
          </a:p>
          <a:p>
            <a:pPr>
              <a:lnSpc>
                <a:spcPct val="120000"/>
              </a:lnSpc>
            </a:pPr>
            <a:r>
              <a:rPr lang="en-US" dirty="0" err="1"/>
              <a:t>Blazor</a:t>
            </a:r>
            <a:r>
              <a:rPr lang="en-US" dirty="0"/>
              <a:t> Server is dependent on a stable network connection. Otherwise, you will experience latency issues.</a:t>
            </a:r>
          </a:p>
          <a:p>
            <a:pPr>
              <a:lnSpc>
                <a:spcPct val="120000"/>
              </a:lnSpc>
            </a:pPr>
            <a:endParaRPr lang="en-CA" dirty="0"/>
          </a:p>
        </p:txBody>
      </p:sp>
      <p:pic>
        <p:nvPicPr>
          <p:cNvPr id="6" name="Picture 5" descr="Client's browser has Blazor.js. Client and Server communicate with Persistent Websocket and SignalR (user interactions). The Server contains .NET Runtime, APIs, Server DOM, App code.">
            <a:extLst>
              <a:ext uri="{FF2B5EF4-FFF2-40B4-BE49-F238E27FC236}">
                <a16:creationId xmlns:a16="http://schemas.microsoft.com/office/drawing/2014/main" id="{C237BDF3-6432-5491-7FCE-C6F5F76F573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9598" y="5164388"/>
            <a:ext cx="11369140" cy="3807778"/>
          </a:xfrm>
          <a:prstGeom prst="rect">
            <a:avLst/>
          </a:prstGeom>
          <a:noFill/>
          <a:ln>
            <a:noFill/>
          </a:ln>
        </p:spPr>
      </p:pic>
    </p:spTree>
    <p:extLst>
      <p:ext uri="{BB962C8B-B14F-4D97-AF65-F5344CB8AC3E}">
        <p14:creationId xmlns:p14="http://schemas.microsoft.com/office/powerpoint/2010/main" val="1253191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B40B5-C813-C604-8B1F-540FE5F7BD4A}"/>
              </a:ext>
            </a:extLst>
          </p:cNvPr>
          <p:cNvSpPr>
            <a:spLocks noGrp="1"/>
          </p:cNvSpPr>
          <p:nvPr>
            <p:ph type="title"/>
          </p:nvPr>
        </p:nvSpPr>
        <p:spPr/>
        <p:txBody>
          <a:bodyPr/>
          <a:lstStyle/>
          <a:p>
            <a:r>
              <a:rPr lang="en-US" dirty="0"/>
              <a:t>What Model is Right for You?</a:t>
            </a:r>
            <a:endParaRPr lang="en-CA" dirty="0"/>
          </a:p>
        </p:txBody>
      </p:sp>
      <p:sp>
        <p:nvSpPr>
          <p:cNvPr id="3" name="Content Placeholder 2">
            <a:extLst>
              <a:ext uri="{FF2B5EF4-FFF2-40B4-BE49-F238E27FC236}">
                <a16:creationId xmlns:a16="http://schemas.microsoft.com/office/drawing/2014/main" id="{A36D6470-90A9-62EA-2DD8-0FE25634DB94}"/>
              </a:ext>
            </a:extLst>
          </p:cNvPr>
          <p:cNvSpPr>
            <a:spLocks noGrp="1"/>
          </p:cNvSpPr>
          <p:nvPr>
            <p:ph idx="1"/>
          </p:nvPr>
        </p:nvSpPr>
        <p:spPr/>
        <p:txBody>
          <a:bodyPr>
            <a:normAutofit/>
          </a:bodyPr>
          <a:lstStyle/>
          <a:p>
            <a:r>
              <a:rPr lang="en-US" sz="4400" dirty="0"/>
              <a:t>For an internal application with a known number of users, I would use </a:t>
            </a:r>
            <a:r>
              <a:rPr lang="en-US" sz="4400" dirty="0" err="1"/>
              <a:t>Blazor</a:t>
            </a:r>
            <a:r>
              <a:rPr lang="en-US" sz="4400" dirty="0"/>
              <a:t> Server. I can code both the frontend and the backend code in the same project. The code runs in all browsers, even those not supporting web assembly.</a:t>
            </a:r>
          </a:p>
          <a:p>
            <a:r>
              <a:rPr lang="en-US" sz="4400" dirty="0"/>
              <a:t>For a customer-facing application with a scalable number of users, I would use </a:t>
            </a:r>
            <a:r>
              <a:rPr lang="en-US" sz="4400" dirty="0" err="1"/>
              <a:t>Blazor</a:t>
            </a:r>
            <a:r>
              <a:rPr lang="en-US" sz="4400" dirty="0"/>
              <a:t> </a:t>
            </a:r>
            <a:r>
              <a:rPr lang="en-US" sz="4400" dirty="0" err="1"/>
              <a:t>WebAssembly</a:t>
            </a:r>
            <a:r>
              <a:rPr lang="en-US" sz="4400" dirty="0"/>
              <a:t>. It forces me to implement a separate frontend and a backend, allowing me more control over security boundaries. I’m also able to scale up or scale out as needed. I save money on the infrastructure by offloading some of the work from the server to the client.</a:t>
            </a:r>
          </a:p>
          <a:p>
            <a:endParaRPr lang="en-CA" sz="4400" dirty="0"/>
          </a:p>
        </p:txBody>
      </p:sp>
    </p:spTree>
    <p:extLst>
      <p:ext uri="{BB962C8B-B14F-4D97-AF65-F5344CB8AC3E}">
        <p14:creationId xmlns:p14="http://schemas.microsoft.com/office/powerpoint/2010/main" val="1446067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65EA8-9BE4-C261-F1A2-16A4029A8D2F}"/>
              </a:ext>
            </a:extLst>
          </p:cNvPr>
          <p:cNvSpPr>
            <a:spLocks noGrp="1"/>
          </p:cNvSpPr>
          <p:nvPr>
            <p:ph type="title"/>
          </p:nvPr>
        </p:nvSpPr>
        <p:spPr/>
        <p:txBody>
          <a:bodyPr/>
          <a:lstStyle/>
          <a:p>
            <a:r>
              <a:rPr lang="en-CA" dirty="0"/>
              <a:t>Razor Components</a:t>
            </a:r>
          </a:p>
        </p:txBody>
      </p:sp>
      <p:sp>
        <p:nvSpPr>
          <p:cNvPr id="3" name="Content Placeholder 2">
            <a:extLst>
              <a:ext uri="{FF2B5EF4-FFF2-40B4-BE49-F238E27FC236}">
                <a16:creationId xmlns:a16="http://schemas.microsoft.com/office/drawing/2014/main" id="{13CA4E77-2767-37DF-8F6A-FAEA7782E829}"/>
              </a:ext>
            </a:extLst>
          </p:cNvPr>
          <p:cNvSpPr>
            <a:spLocks noGrp="1"/>
          </p:cNvSpPr>
          <p:nvPr>
            <p:ph idx="1"/>
          </p:nvPr>
        </p:nvSpPr>
        <p:spPr/>
        <p:txBody>
          <a:bodyPr>
            <a:normAutofit fontScale="70000" lnSpcReduction="20000"/>
          </a:bodyPr>
          <a:lstStyle/>
          <a:p>
            <a:pPr>
              <a:lnSpc>
                <a:spcPct val="120000"/>
              </a:lnSpc>
            </a:pPr>
            <a:r>
              <a:rPr lang="en-US" dirty="0" err="1"/>
              <a:t>Blazor</a:t>
            </a:r>
            <a:r>
              <a:rPr lang="en-US" dirty="0"/>
              <a:t> Server applications are built using Razor Components, which can also be called </a:t>
            </a:r>
            <a:r>
              <a:rPr lang="en-US" dirty="0" err="1"/>
              <a:t>Blazor</a:t>
            </a:r>
            <a:r>
              <a:rPr lang="en-US" dirty="0"/>
              <a:t> components. A component is simply a self-contained bit of functionality with logic that allows client-side interactivity using the Razor syntax and C# code. Razor components have 3 different render modes on the client.</a:t>
            </a:r>
          </a:p>
          <a:p>
            <a:pPr>
              <a:lnSpc>
                <a:spcPct val="120000"/>
              </a:lnSpc>
            </a:pPr>
            <a:r>
              <a:rPr lang="en-US" b="1" dirty="0" err="1"/>
              <a:t>ServerPrerendered</a:t>
            </a:r>
            <a:r>
              <a:rPr lang="en-US" b="1" dirty="0"/>
              <a:t>: </a:t>
            </a:r>
            <a:r>
              <a:rPr lang="en-US" dirty="0"/>
              <a:t>The component is rendered in HTML on the client and connects back to the server for interactivity.</a:t>
            </a:r>
          </a:p>
          <a:p>
            <a:pPr>
              <a:lnSpc>
                <a:spcPct val="120000"/>
              </a:lnSpc>
            </a:pPr>
            <a:r>
              <a:rPr lang="en-US" b="1" dirty="0"/>
              <a:t>Server: </a:t>
            </a:r>
            <a:r>
              <a:rPr lang="en-US" dirty="0"/>
              <a:t>The component does not render in HTML on the client but connects back to the server for interactivity.</a:t>
            </a:r>
          </a:p>
          <a:p>
            <a:pPr>
              <a:lnSpc>
                <a:spcPct val="120000"/>
              </a:lnSpc>
            </a:pPr>
            <a:r>
              <a:rPr lang="en-US" b="1" dirty="0"/>
              <a:t>Static: </a:t>
            </a:r>
            <a:r>
              <a:rPr lang="en-US" dirty="0"/>
              <a:t>The component is rendered in HTML on the client but does not connect back to the server for interactivity.</a:t>
            </a:r>
          </a:p>
          <a:p>
            <a:pPr>
              <a:lnSpc>
                <a:spcPct val="120000"/>
              </a:lnSpc>
            </a:pPr>
            <a:endParaRPr lang="en-CA" dirty="0"/>
          </a:p>
        </p:txBody>
      </p:sp>
    </p:spTree>
    <p:extLst>
      <p:ext uri="{BB962C8B-B14F-4D97-AF65-F5344CB8AC3E}">
        <p14:creationId xmlns:p14="http://schemas.microsoft.com/office/powerpoint/2010/main" val="27604408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59343-FC2F-C741-F108-8F6C6D7C6FAC}"/>
              </a:ext>
            </a:extLst>
          </p:cNvPr>
          <p:cNvSpPr>
            <a:spLocks noGrp="1"/>
          </p:cNvSpPr>
          <p:nvPr>
            <p:ph type="title"/>
          </p:nvPr>
        </p:nvSpPr>
        <p:spPr/>
        <p:txBody>
          <a:bodyPr/>
          <a:lstStyle/>
          <a:p>
            <a:r>
              <a:rPr lang="en-US" dirty="0"/>
              <a:t>Data Binding</a:t>
            </a:r>
            <a:endParaRPr lang="en-CA" dirty="0"/>
          </a:p>
        </p:txBody>
      </p:sp>
      <p:sp>
        <p:nvSpPr>
          <p:cNvPr id="3" name="Content Placeholder 2">
            <a:extLst>
              <a:ext uri="{FF2B5EF4-FFF2-40B4-BE49-F238E27FC236}">
                <a16:creationId xmlns:a16="http://schemas.microsoft.com/office/drawing/2014/main" id="{2E0B4B9D-0D42-BED4-0644-09DBDDD1C3B0}"/>
              </a:ext>
            </a:extLst>
          </p:cNvPr>
          <p:cNvSpPr>
            <a:spLocks noGrp="1"/>
          </p:cNvSpPr>
          <p:nvPr>
            <p:ph idx="1"/>
          </p:nvPr>
        </p:nvSpPr>
        <p:spPr/>
        <p:txBody>
          <a:bodyPr/>
          <a:lstStyle/>
          <a:p>
            <a:r>
              <a:rPr lang="en-US" b="0" i="0" dirty="0">
                <a:solidFill>
                  <a:srgbClr val="383F55"/>
                </a:solidFill>
                <a:effectLst/>
                <a:latin typeface="Metric"/>
              </a:rPr>
              <a:t>Data binding is a foundational feature of </a:t>
            </a:r>
            <a:r>
              <a:rPr lang="en-US" b="0" i="0" dirty="0" err="1">
                <a:solidFill>
                  <a:srgbClr val="383F55"/>
                </a:solidFill>
                <a:effectLst/>
                <a:latin typeface="Metric"/>
              </a:rPr>
              <a:t>Blazor</a:t>
            </a:r>
            <a:r>
              <a:rPr lang="en-US" b="0" i="0" dirty="0">
                <a:solidFill>
                  <a:srgbClr val="383F55"/>
                </a:solidFill>
                <a:effectLst/>
                <a:latin typeface="Metric"/>
              </a:rPr>
              <a:t> development used to bind data from the C# code to the user interface. </a:t>
            </a:r>
          </a:p>
          <a:p>
            <a:pPr lvl="1"/>
            <a:r>
              <a:rPr lang="en-US" b="0" i="0" dirty="0">
                <a:solidFill>
                  <a:srgbClr val="383F55"/>
                </a:solidFill>
                <a:effectLst/>
                <a:latin typeface="Metric"/>
              </a:rPr>
              <a:t>one-way, </a:t>
            </a:r>
          </a:p>
          <a:p>
            <a:pPr lvl="1"/>
            <a:r>
              <a:rPr lang="en-US" b="0" i="0" dirty="0">
                <a:solidFill>
                  <a:srgbClr val="383F55"/>
                </a:solidFill>
                <a:effectLst/>
                <a:latin typeface="Metric"/>
              </a:rPr>
              <a:t>two-way and </a:t>
            </a:r>
          </a:p>
          <a:p>
            <a:pPr lvl="1"/>
            <a:r>
              <a:rPr lang="en-US" b="0" i="0" dirty="0">
                <a:solidFill>
                  <a:srgbClr val="383F55"/>
                </a:solidFill>
                <a:effectLst/>
                <a:latin typeface="Metric"/>
              </a:rPr>
              <a:t>event binding.</a:t>
            </a:r>
            <a:endParaRPr lang="en-CA" dirty="0"/>
          </a:p>
        </p:txBody>
      </p:sp>
    </p:spTree>
    <p:extLst>
      <p:ext uri="{BB962C8B-B14F-4D97-AF65-F5344CB8AC3E}">
        <p14:creationId xmlns:p14="http://schemas.microsoft.com/office/powerpoint/2010/main" val="2425271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4F643-3C88-BED8-4E43-169C8CF560C5}"/>
              </a:ext>
            </a:extLst>
          </p:cNvPr>
          <p:cNvSpPr>
            <a:spLocks noGrp="1"/>
          </p:cNvSpPr>
          <p:nvPr>
            <p:ph type="title"/>
          </p:nvPr>
        </p:nvSpPr>
        <p:spPr/>
        <p:txBody>
          <a:bodyPr/>
          <a:lstStyle/>
          <a:p>
            <a:r>
              <a:rPr lang="en-CA" dirty="0"/>
              <a:t>One-Way Binding—Property Binding</a:t>
            </a:r>
          </a:p>
        </p:txBody>
      </p:sp>
      <p:sp>
        <p:nvSpPr>
          <p:cNvPr id="3" name="Content Placeholder 2">
            <a:extLst>
              <a:ext uri="{FF2B5EF4-FFF2-40B4-BE49-F238E27FC236}">
                <a16:creationId xmlns:a16="http://schemas.microsoft.com/office/drawing/2014/main" id="{A88AEE29-4777-F365-9A99-3E1003FD7F6A}"/>
              </a:ext>
            </a:extLst>
          </p:cNvPr>
          <p:cNvSpPr>
            <a:spLocks noGrp="1"/>
          </p:cNvSpPr>
          <p:nvPr>
            <p:ph idx="1"/>
          </p:nvPr>
        </p:nvSpPr>
        <p:spPr>
          <a:xfrm>
            <a:off x="11087100" y="3651251"/>
            <a:ext cx="11619022" cy="5226050"/>
          </a:xfrm>
        </p:spPr>
        <p:txBody>
          <a:bodyPr>
            <a:normAutofit fontScale="62500" lnSpcReduction="20000"/>
          </a:bodyPr>
          <a:lstStyle/>
          <a:p>
            <a:r>
              <a:rPr lang="en-US" dirty="0"/>
              <a:t>We want to use the Title property from the code section as the value for the heading.</a:t>
            </a:r>
          </a:p>
          <a:p>
            <a:r>
              <a:rPr lang="en-US" dirty="0"/>
              <a:t>Rendering data is very simple in </a:t>
            </a:r>
            <a:r>
              <a:rPr lang="en-US" dirty="0" err="1"/>
              <a:t>Blazor</a:t>
            </a:r>
            <a:r>
              <a:rPr lang="en-US" dirty="0"/>
              <a:t>. All we have to do is use the @ symbol followed by the property name or variable name.</a:t>
            </a:r>
          </a:p>
          <a:p>
            <a:r>
              <a:rPr lang="en-US" dirty="0"/>
              <a:t>Whenever the content of the Title property changes, the user interface will automatically be updated to reflect the new value.</a:t>
            </a:r>
          </a:p>
          <a:p>
            <a:r>
              <a:rPr lang="en-US" dirty="0"/>
              <a:t>We can use the same approach to provide the value of a property as an argument to a component parameter.</a:t>
            </a:r>
          </a:p>
          <a:p>
            <a:endParaRPr lang="en-US" dirty="0"/>
          </a:p>
        </p:txBody>
      </p:sp>
      <p:pic>
        <p:nvPicPr>
          <p:cNvPr id="5" name="Picture 4">
            <a:extLst>
              <a:ext uri="{FF2B5EF4-FFF2-40B4-BE49-F238E27FC236}">
                <a16:creationId xmlns:a16="http://schemas.microsoft.com/office/drawing/2014/main" id="{B1B42DF1-06BA-5970-97C4-45E7D6984A05}"/>
              </a:ext>
            </a:extLst>
          </p:cNvPr>
          <p:cNvPicPr>
            <a:picLocks noChangeAspect="1"/>
          </p:cNvPicPr>
          <p:nvPr/>
        </p:nvPicPr>
        <p:blipFill>
          <a:blip r:embed="rId2"/>
          <a:srcRect r="13915"/>
          <a:stretch/>
        </p:blipFill>
        <p:spPr>
          <a:xfrm>
            <a:off x="133351" y="3708400"/>
            <a:ext cx="6817152" cy="3409225"/>
          </a:xfrm>
          <a:prstGeom prst="rect">
            <a:avLst/>
          </a:prstGeom>
        </p:spPr>
      </p:pic>
      <p:pic>
        <p:nvPicPr>
          <p:cNvPr id="7" name="Picture 6">
            <a:extLst>
              <a:ext uri="{FF2B5EF4-FFF2-40B4-BE49-F238E27FC236}">
                <a16:creationId xmlns:a16="http://schemas.microsoft.com/office/drawing/2014/main" id="{3CFC4D6D-A079-52E0-8C88-6051E88B3997}"/>
              </a:ext>
            </a:extLst>
          </p:cNvPr>
          <p:cNvPicPr>
            <a:picLocks noChangeAspect="1"/>
          </p:cNvPicPr>
          <p:nvPr/>
        </p:nvPicPr>
        <p:blipFill>
          <a:blip r:embed="rId3"/>
          <a:stretch>
            <a:fillRect/>
          </a:stretch>
        </p:blipFill>
        <p:spPr>
          <a:xfrm>
            <a:off x="270342" y="9205727"/>
            <a:ext cx="4677428" cy="2657846"/>
          </a:xfrm>
          <a:prstGeom prst="rect">
            <a:avLst/>
          </a:prstGeom>
        </p:spPr>
      </p:pic>
      <p:sp>
        <p:nvSpPr>
          <p:cNvPr id="10" name="TextBox 9">
            <a:extLst>
              <a:ext uri="{FF2B5EF4-FFF2-40B4-BE49-F238E27FC236}">
                <a16:creationId xmlns:a16="http://schemas.microsoft.com/office/drawing/2014/main" id="{76549D1E-488B-5821-C877-3A1C57B67D79}"/>
              </a:ext>
            </a:extLst>
          </p:cNvPr>
          <p:cNvSpPr txBox="1"/>
          <p:nvPr/>
        </p:nvSpPr>
        <p:spPr>
          <a:xfrm>
            <a:off x="6762750" y="10133052"/>
            <a:ext cx="12192000" cy="830997"/>
          </a:xfrm>
          <a:prstGeom prst="rect">
            <a:avLst/>
          </a:prstGeom>
          <a:noFill/>
        </p:spPr>
        <p:txBody>
          <a:bodyPr wrap="square">
            <a:spAutoFit/>
          </a:bodyPr>
          <a:lstStyle/>
          <a:p>
            <a:r>
              <a:rPr lang="en-US" sz="2400" dirty="0"/>
              <a:t>we render the </a:t>
            </a:r>
            <a:r>
              <a:rPr lang="en-US" sz="2400" dirty="0" err="1"/>
              <a:t>MyComponent</a:t>
            </a:r>
            <a:r>
              <a:rPr lang="en-US" sz="2400" dirty="0"/>
              <a:t> child component and provide the Name property as an argument for the Title parameter.</a:t>
            </a:r>
            <a:endParaRPr lang="en-CA" sz="2400" dirty="0"/>
          </a:p>
        </p:txBody>
      </p:sp>
    </p:spTree>
    <p:extLst>
      <p:ext uri="{BB962C8B-B14F-4D97-AF65-F5344CB8AC3E}">
        <p14:creationId xmlns:p14="http://schemas.microsoft.com/office/powerpoint/2010/main" val="2789633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88357-A590-D98A-C8A5-1B72F338EA57}"/>
              </a:ext>
            </a:extLst>
          </p:cNvPr>
          <p:cNvSpPr>
            <a:spLocks noGrp="1"/>
          </p:cNvSpPr>
          <p:nvPr>
            <p:ph type="title"/>
          </p:nvPr>
        </p:nvSpPr>
        <p:spPr/>
        <p:txBody>
          <a:bodyPr/>
          <a:lstStyle/>
          <a:p>
            <a:r>
              <a:rPr lang="en-CA" dirty="0"/>
              <a:t>Two-Way Data Binding</a:t>
            </a:r>
          </a:p>
        </p:txBody>
      </p:sp>
      <p:sp>
        <p:nvSpPr>
          <p:cNvPr id="3" name="Content Placeholder 2">
            <a:extLst>
              <a:ext uri="{FF2B5EF4-FFF2-40B4-BE49-F238E27FC236}">
                <a16:creationId xmlns:a16="http://schemas.microsoft.com/office/drawing/2014/main" id="{2930080D-4EAF-480D-0990-459ACC384192}"/>
              </a:ext>
            </a:extLst>
          </p:cNvPr>
          <p:cNvSpPr>
            <a:spLocks noGrp="1"/>
          </p:cNvSpPr>
          <p:nvPr>
            <p:ph idx="1"/>
          </p:nvPr>
        </p:nvSpPr>
        <p:spPr>
          <a:xfrm>
            <a:off x="11982450" y="3651250"/>
            <a:ext cx="10723672" cy="7373801"/>
          </a:xfrm>
        </p:spPr>
        <p:txBody>
          <a:bodyPr/>
          <a:lstStyle/>
          <a:p>
            <a:r>
              <a:rPr lang="en-US" dirty="0"/>
              <a:t>data flows from the data model to the user interface and in the opposite direction. </a:t>
            </a:r>
          </a:p>
          <a:p>
            <a:r>
              <a:rPr lang="en-US" dirty="0"/>
              <a:t>That’s why it’s called two-way or bidirectional data binding.</a:t>
            </a:r>
            <a:endParaRPr lang="en-CA" dirty="0"/>
          </a:p>
        </p:txBody>
      </p:sp>
      <p:pic>
        <p:nvPicPr>
          <p:cNvPr id="5" name="Picture 4">
            <a:extLst>
              <a:ext uri="{FF2B5EF4-FFF2-40B4-BE49-F238E27FC236}">
                <a16:creationId xmlns:a16="http://schemas.microsoft.com/office/drawing/2014/main" id="{CD89BC60-3711-2889-2691-C57BE4322D0D}"/>
              </a:ext>
            </a:extLst>
          </p:cNvPr>
          <p:cNvPicPr>
            <a:picLocks noChangeAspect="1"/>
          </p:cNvPicPr>
          <p:nvPr/>
        </p:nvPicPr>
        <p:blipFill>
          <a:blip r:embed="rId2"/>
          <a:stretch>
            <a:fillRect/>
          </a:stretch>
        </p:blipFill>
        <p:spPr>
          <a:xfrm>
            <a:off x="722739" y="3381377"/>
            <a:ext cx="6913444" cy="2943223"/>
          </a:xfrm>
          <a:prstGeom prst="rect">
            <a:avLst/>
          </a:prstGeom>
        </p:spPr>
      </p:pic>
      <p:sp>
        <p:nvSpPr>
          <p:cNvPr id="7" name="TextBox 6">
            <a:extLst>
              <a:ext uri="{FF2B5EF4-FFF2-40B4-BE49-F238E27FC236}">
                <a16:creationId xmlns:a16="http://schemas.microsoft.com/office/drawing/2014/main" id="{8B2D1B18-41E7-FAB1-1895-A29D0DAC133A}"/>
              </a:ext>
            </a:extLst>
          </p:cNvPr>
          <p:cNvSpPr txBox="1"/>
          <p:nvPr/>
        </p:nvSpPr>
        <p:spPr>
          <a:xfrm>
            <a:off x="722739" y="6304002"/>
            <a:ext cx="12192000" cy="707886"/>
          </a:xfrm>
          <a:prstGeom prst="rect">
            <a:avLst/>
          </a:prstGeom>
          <a:noFill/>
        </p:spPr>
        <p:txBody>
          <a:bodyPr wrap="square">
            <a:spAutoFit/>
          </a:bodyPr>
          <a:lstStyle/>
          <a:p>
            <a:r>
              <a:rPr lang="en-US" sz="2000" dirty="0"/>
              <a:t>we have an input field and bind the Username property </a:t>
            </a:r>
          </a:p>
          <a:p>
            <a:r>
              <a:rPr lang="en-US" sz="2000" dirty="0"/>
              <a:t>to the value property of the input element.</a:t>
            </a:r>
            <a:endParaRPr lang="en-CA" sz="2000" dirty="0"/>
          </a:p>
        </p:txBody>
      </p:sp>
      <p:pic>
        <p:nvPicPr>
          <p:cNvPr id="9" name="Picture 8">
            <a:extLst>
              <a:ext uri="{FF2B5EF4-FFF2-40B4-BE49-F238E27FC236}">
                <a16:creationId xmlns:a16="http://schemas.microsoft.com/office/drawing/2014/main" id="{802C9E46-06BA-848F-5165-4C4A084CE904}"/>
              </a:ext>
            </a:extLst>
          </p:cNvPr>
          <p:cNvPicPr>
            <a:picLocks noChangeAspect="1"/>
          </p:cNvPicPr>
          <p:nvPr/>
        </p:nvPicPr>
        <p:blipFill>
          <a:blip r:embed="rId3"/>
          <a:stretch>
            <a:fillRect/>
          </a:stretch>
        </p:blipFill>
        <p:spPr>
          <a:xfrm>
            <a:off x="1041805" y="8142170"/>
            <a:ext cx="6657223" cy="2640129"/>
          </a:xfrm>
          <a:prstGeom prst="rect">
            <a:avLst/>
          </a:prstGeom>
        </p:spPr>
      </p:pic>
      <p:sp>
        <p:nvSpPr>
          <p:cNvPr id="11" name="TextBox 10">
            <a:extLst>
              <a:ext uri="{FF2B5EF4-FFF2-40B4-BE49-F238E27FC236}">
                <a16:creationId xmlns:a16="http://schemas.microsoft.com/office/drawing/2014/main" id="{F7AD1E4D-95EE-35DA-E9A1-D788EC42A189}"/>
              </a:ext>
            </a:extLst>
          </p:cNvPr>
          <p:cNvSpPr txBox="1"/>
          <p:nvPr/>
        </p:nvSpPr>
        <p:spPr>
          <a:xfrm>
            <a:off x="8820150" y="8279805"/>
            <a:ext cx="12782550" cy="2308324"/>
          </a:xfrm>
          <a:prstGeom prst="rect">
            <a:avLst/>
          </a:prstGeom>
          <a:noFill/>
        </p:spPr>
        <p:txBody>
          <a:bodyPr wrap="square">
            <a:spAutoFit/>
          </a:bodyPr>
          <a:lstStyle/>
          <a:p>
            <a:r>
              <a:rPr lang="en-US" sz="2400" dirty="0"/>
              <a:t>The spelling of the bind expression is important. For example, when using the pre-defined </a:t>
            </a:r>
            <a:r>
              <a:rPr lang="en-US" sz="2400" dirty="0" err="1"/>
              <a:t>InputText</a:t>
            </a:r>
            <a:r>
              <a:rPr lang="en-US" sz="2400" dirty="0"/>
              <a:t> component, we need to use an uppercase “V” for the Value property because the component exposes the Value parameter.</a:t>
            </a:r>
          </a:p>
          <a:p>
            <a:endParaRPr lang="en-US" sz="2400" dirty="0"/>
          </a:p>
          <a:p>
            <a:r>
              <a:rPr lang="en-US" sz="2400" dirty="0"/>
              <a:t>The rule of thumb I use is that the bindings usually need lowercase for standard HTML elements and uppercase for </a:t>
            </a:r>
            <a:r>
              <a:rPr lang="en-US" sz="2400" dirty="0" err="1"/>
              <a:t>Blazor</a:t>
            </a:r>
            <a:r>
              <a:rPr lang="en-US" sz="2400" dirty="0"/>
              <a:t> components.</a:t>
            </a:r>
            <a:endParaRPr lang="en-CA" sz="2400" dirty="0"/>
          </a:p>
        </p:txBody>
      </p:sp>
    </p:spTree>
    <p:extLst>
      <p:ext uri="{BB962C8B-B14F-4D97-AF65-F5344CB8AC3E}">
        <p14:creationId xmlns:p14="http://schemas.microsoft.com/office/powerpoint/2010/main" val="1293449096"/>
      </p:ext>
    </p:extLst>
  </p:cSld>
  <p:clrMapOvr>
    <a:masterClrMapping/>
  </p:clrMapOvr>
</p:sld>
</file>

<file path=ppt/theme/theme1.xml><?xml version="1.0" encoding="utf-8"?>
<a:theme xmlns:a="http://schemas.openxmlformats.org/drawingml/2006/main" name="Office Theme">
  <a:themeElements>
    <a:clrScheme name="NAIT 2020">
      <a:dk1>
        <a:sysClr val="windowText" lastClr="000000"/>
      </a:dk1>
      <a:lt1>
        <a:sysClr val="window" lastClr="FFFFFF"/>
      </a:lt1>
      <a:dk2>
        <a:srgbClr val="63666A"/>
      </a:dk2>
      <a:lt2>
        <a:srgbClr val="F2F2F2"/>
      </a:lt2>
      <a:accent1>
        <a:srgbClr val="002D74"/>
      </a:accent1>
      <a:accent2>
        <a:srgbClr val="00A0DF"/>
      </a:accent2>
      <a:accent3>
        <a:srgbClr val="005CB9"/>
      </a:accent3>
      <a:accent4>
        <a:srgbClr val="2AD2C9"/>
      </a:accent4>
      <a:accent5>
        <a:srgbClr val="97D700"/>
      </a:accent5>
      <a:accent6>
        <a:srgbClr val="F2A900"/>
      </a:accent6>
      <a:hlink>
        <a:srgbClr val="00AEFF"/>
      </a:hlink>
      <a:folHlink>
        <a:srgbClr val="981D9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IT PPT TEMPLATE" id="{48C832B7-36DA-FF42-A033-DC69DF6E754B}" vid="{12E7E523-AC5B-2043-BD48-32C2D6EE82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60D8F21E27A1046B906AB74EEBC017F" ma:contentTypeVersion="13" ma:contentTypeDescription="Create a new document." ma:contentTypeScope="" ma:versionID="afd610e14939d1014c69da18b837b873">
  <xsd:schema xmlns:xsd="http://www.w3.org/2001/XMLSchema" xmlns:xs="http://www.w3.org/2001/XMLSchema" xmlns:p="http://schemas.microsoft.com/office/2006/metadata/properties" xmlns:ns3="a33e3031-a624-439f-9365-f35f4095a06e" xmlns:ns4="94b94c66-98ff-4edc-91a0-3cbab99a930f" targetNamespace="http://schemas.microsoft.com/office/2006/metadata/properties" ma:root="true" ma:fieldsID="cd898ab2a322cfd7e7115a6031bba6b9" ns3:_="" ns4:_="">
    <xsd:import namespace="a33e3031-a624-439f-9365-f35f4095a06e"/>
    <xsd:import namespace="94b94c66-98ff-4edc-91a0-3cbab99a930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_activity"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3e3031-a624-439f-9365-f35f4095a06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_activity" ma:index="17"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b94c66-98ff-4edc-91a0-3cbab99a930f"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a33e3031-a624-439f-9365-f35f4095a06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3E0FC-5BC5-4A9D-812C-9D29885BC6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3e3031-a624-439f-9365-f35f4095a06e"/>
    <ds:schemaRef ds:uri="94b94c66-98ff-4edc-91a0-3cbab99a93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856E63F-A8C0-4586-AFCD-69964B5AAAEB}">
  <ds:schemaRefs>
    <ds:schemaRef ds:uri="http://schemas.microsoft.com/office/2006/documentManagement/types"/>
    <ds:schemaRef ds:uri="http://purl.org/dc/elements/1.1/"/>
    <ds:schemaRef ds:uri="a33e3031-a624-439f-9365-f35f4095a06e"/>
    <ds:schemaRef ds:uri="http://purl.org/dc/terms/"/>
    <ds:schemaRef ds:uri="http://schemas.microsoft.com/office/2006/metadata/properties"/>
    <ds:schemaRef ds:uri="http://schemas.openxmlformats.org/package/2006/metadata/core-properties"/>
    <ds:schemaRef ds:uri="http://schemas.microsoft.com/office/infopath/2007/PartnerControls"/>
    <ds:schemaRef ds:uri="94b94c66-98ff-4edc-91a0-3cbab99a930f"/>
    <ds:schemaRef ds:uri="http://www.w3.org/XML/1998/namespace"/>
    <ds:schemaRef ds:uri="http://purl.org/dc/dcmitype/"/>
  </ds:schemaRefs>
</ds:datastoreItem>
</file>

<file path=customXml/itemProps3.xml><?xml version="1.0" encoding="utf-8"?>
<ds:datastoreItem xmlns:ds="http://schemas.openxmlformats.org/officeDocument/2006/customXml" ds:itemID="{177E4845-7472-4B0C-A0C7-BE9A32CE6DC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NAIT-Brand-PPT_TEMPLATE_2020</Template>
  <TotalTime>6598</TotalTime>
  <Words>913</Words>
  <Application>Microsoft Office PowerPoint</Application>
  <PresentationFormat>Custom</PresentationFormat>
  <Paragraphs>63</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Cpsc1517</vt:lpstr>
      <vt:lpstr>Lesson Objective</vt:lpstr>
      <vt:lpstr>Blazor Introduction </vt:lpstr>
      <vt:lpstr>PowerPoint Presentation</vt:lpstr>
      <vt:lpstr>Blazor WebAssembly</vt:lpstr>
      <vt:lpstr>Blazor Server</vt:lpstr>
      <vt:lpstr>What Model is Right for You?</vt:lpstr>
      <vt:lpstr>Razor Components</vt:lpstr>
      <vt:lpstr>Data Binding</vt:lpstr>
      <vt:lpstr>One-Way Binding—Property Binding</vt:lpstr>
      <vt:lpstr>Two-Way Data Binding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PTE 200 F2F Lesson</dc:title>
  <dc:creator>Michael Cimolini</dc:creator>
  <cp:lastModifiedBy>Baljeet Kaur</cp:lastModifiedBy>
  <cp:revision>21</cp:revision>
  <cp:lastPrinted>2019-08-01T00:13:24Z</cp:lastPrinted>
  <dcterms:created xsi:type="dcterms:W3CDTF">2024-08-13T01:55:57Z</dcterms:created>
  <dcterms:modified xsi:type="dcterms:W3CDTF">2026-01-19T19:10:49Z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 Department">
    <vt:lpwstr>197;#Brand|943f07b5-0abf-4eba-9a92-bb911ec4797c</vt:lpwstr>
  </property>
  <property fmtid="{D5CDD505-2E9C-101B-9397-08002B2CF9AE}" pid="3" name="Topic">
    <vt:lpwstr/>
  </property>
  <property fmtid="{D5CDD505-2E9C-101B-9397-08002B2CF9AE}" pid="4" name="Building">
    <vt:lpwstr/>
  </property>
  <property fmtid="{D5CDD505-2E9C-101B-9397-08002B2CF9AE}" pid="5" name="ContentTypeId">
    <vt:lpwstr>0x010100A60D8F21E27A1046B906AB74EEBC017F</vt:lpwstr>
  </property>
  <property fmtid="{D5CDD505-2E9C-101B-9397-08002B2CF9AE}" pid="6" name="Target Audience">
    <vt:lpwstr/>
  </property>
  <property fmtid="{D5CDD505-2E9C-101B-9397-08002B2CF9AE}" pid="7" name="_dlc_DocIdItemGuid">
    <vt:lpwstr>a4d56298-c866-45f0-a3db-be918181ebef</vt:lpwstr>
  </property>
  <property fmtid="{D5CDD505-2E9C-101B-9397-08002B2CF9AE}" pid="8" name="PublishedDocument.Location">
    <vt:lpwstr/>
  </property>
  <property fmtid="{D5CDD505-2E9C-101B-9397-08002B2CF9AE}" pid="9" name="Program">
    <vt:lpwstr/>
  </property>
  <property fmtid="{D5CDD505-2E9C-101B-9397-08002B2CF9AE}" pid="10" name="MSIP_Label_10877899-02b0-462c-b2a9-b7d15c4f96fe_Enabled">
    <vt:lpwstr>true</vt:lpwstr>
  </property>
  <property fmtid="{D5CDD505-2E9C-101B-9397-08002B2CF9AE}" pid="11" name="MSIP_Label_10877899-02b0-462c-b2a9-b7d15c4f96fe_SetDate">
    <vt:lpwstr>2025-02-05T01:35:43Z</vt:lpwstr>
  </property>
  <property fmtid="{D5CDD505-2E9C-101B-9397-08002B2CF9AE}" pid="12" name="MSIP_Label_10877899-02b0-462c-b2a9-b7d15c4f96fe_Method">
    <vt:lpwstr>Standard</vt:lpwstr>
  </property>
  <property fmtid="{D5CDD505-2E9C-101B-9397-08002B2CF9AE}" pid="13" name="MSIP_Label_10877899-02b0-462c-b2a9-b7d15c4f96fe_Name">
    <vt:lpwstr>Protected [Protected A]</vt:lpwstr>
  </property>
  <property fmtid="{D5CDD505-2E9C-101B-9397-08002B2CF9AE}" pid="14" name="MSIP_Label_10877899-02b0-462c-b2a9-b7d15c4f96fe_SiteId">
    <vt:lpwstr>5c98fb47-d3b9-4649-9d94-f88cbdd9729c</vt:lpwstr>
  </property>
  <property fmtid="{D5CDD505-2E9C-101B-9397-08002B2CF9AE}" pid="15" name="MSIP_Label_10877899-02b0-462c-b2a9-b7d15c4f96fe_ActionId">
    <vt:lpwstr>469f29c0-e935-4d2d-8ae8-513ee6a88284</vt:lpwstr>
  </property>
  <property fmtid="{D5CDD505-2E9C-101B-9397-08002B2CF9AE}" pid="16" name="MSIP_Label_10877899-02b0-462c-b2a9-b7d15c4f96fe_ContentBits">
    <vt:lpwstr>0</vt:lpwstr>
  </property>
</Properties>
</file>