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9"/>
  </p:notesMasterIdLst>
  <p:handoutMasterIdLst>
    <p:handoutMasterId r:id="rId20"/>
  </p:handoutMasterIdLst>
  <p:sldIdLst>
    <p:sldId id="271" r:id="rId5"/>
    <p:sldId id="312" r:id="rId6"/>
    <p:sldId id="320" r:id="rId7"/>
    <p:sldId id="296" r:id="rId8"/>
    <p:sldId id="318" r:id="rId9"/>
    <p:sldId id="321" r:id="rId10"/>
    <p:sldId id="319" r:id="rId11"/>
    <p:sldId id="322" r:id="rId12"/>
    <p:sldId id="302" r:id="rId13"/>
    <p:sldId id="326" r:id="rId14"/>
    <p:sldId id="324" r:id="rId15"/>
    <p:sldId id="325" r:id="rId16"/>
    <p:sldId id="323" r:id="rId17"/>
    <p:sldId id="305" r:id="rId18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73919" autoAdjust="0"/>
  </p:normalViewPr>
  <p:slideViewPr>
    <p:cSldViewPr snapToGrid="0" snapToObjects="1" showGuides="1">
      <p:cViewPr varScale="1">
        <p:scale>
          <a:sx n="25" d="100"/>
          <a:sy n="25" d="100"/>
        </p:scale>
        <p:origin x="564" y="4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1C7B9-A579-490D-96A9-04D5B7898F72}" type="datetimeFigureOut">
              <a:rPr lang="en-CA" smtClean="0"/>
              <a:t>2026-01-19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641A9-FDE3-4583-B812-65C4064188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322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250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266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mages.app.goo.gl/SuGtu4bGBh7xw5AV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Cpsc1517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672B5-6320-EE4E-B160-EE8483FDF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799" y="8028214"/>
            <a:ext cx="21210814" cy="2269673"/>
          </a:xfrm>
        </p:spPr>
        <p:txBody>
          <a:bodyPr>
            <a:normAutofit/>
          </a:bodyPr>
          <a:lstStyle/>
          <a:p>
            <a:r>
              <a:rPr lang="en-US" sz="8000" dirty="0"/>
              <a:t>Test 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1088597702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1512-A3A0-68FC-EA4D-9644DA66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12E9-0C28-92B4-141A-B86CEC8C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By the end of this lesson, learners should be able to:</a:t>
            </a:r>
          </a:p>
          <a:p>
            <a:pPr marL="914354" lvl="1" indent="0">
              <a:buNone/>
            </a:pPr>
            <a:endParaRPr lang="en-CA" dirty="0"/>
          </a:p>
          <a:p>
            <a:pPr lvl="1"/>
            <a:r>
              <a:rPr lang="en-US" dirty="0"/>
              <a:t>Test-Driven Development (TDD), including the Red-Green-Refactor cycle, its benefits, and a step-by-step coding example using C#. Learn how to write tests before implementation to improve code quality, design, and reliability.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0319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0B37-4DBC-C8D2-3A66-5A68D663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	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1E22-67BC-BCD8-7B2C-B03DF16D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TDD</a:t>
            </a:r>
          </a:p>
          <a:p>
            <a:r>
              <a:rPr lang="en-US" dirty="0"/>
              <a:t>What is TDD</a:t>
            </a:r>
          </a:p>
          <a:p>
            <a:r>
              <a:rPr lang="en-US" dirty="0"/>
              <a:t>Benefits of TDD</a:t>
            </a:r>
          </a:p>
          <a:p>
            <a:r>
              <a:rPr lang="en-US" dirty="0"/>
              <a:t>Step by Step Implementation of TDD</a:t>
            </a:r>
          </a:p>
          <a:p>
            <a:r>
              <a:rPr lang="en-US" dirty="0"/>
              <a:t>When to use TDD</a:t>
            </a:r>
          </a:p>
          <a:p>
            <a:r>
              <a:rPr lang="en-US" dirty="0"/>
              <a:t>Key </a:t>
            </a:r>
            <a:r>
              <a:rPr lang="en-US"/>
              <a:t>Practices in TDD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31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919A4-010A-259F-E268-900B06CFD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Exploring the Topic</a:t>
            </a:r>
          </a:p>
        </p:txBody>
      </p:sp>
    </p:spTree>
    <p:extLst>
      <p:ext uri="{BB962C8B-B14F-4D97-AF65-F5344CB8AC3E}">
        <p14:creationId xmlns:p14="http://schemas.microsoft.com/office/powerpoint/2010/main" val="187661163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CFFA-ED5D-AF84-71D8-8E142EE6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(TDD)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71FA-4C0D-595B-551A-1675DCC8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Test-Driven Development (TDD) is a software development methodology that emphasizes writing tests before writing the actual code.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This approach ensures that the software is </a:t>
            </a:r>
            <a:r>
              <a:rPr lang="en-US" b="0" i="0" dirty="0">
                <a:solidFill>
                  <a:schemeClr val="accent3"/>
                </a:solidFill>
                <a:effectLst/>
                <a:latin typeface="source-serif-pro"/>
              </a:rPr>
              <a:t>reliable, maintainable, and bug-free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 TDD, development is divided into short iterations based on a three-step cycle: </a:t>
            </a:r>
            <a:r>
              <a:rPr lang="en-US" b="1" i="0" dirty="0">
                <a:solidFill>
                  <a:srgbClr val="C00000"/>
                </a:solidFill>
                <a:effectLst/>
                <a:latin typeface="source-serif-pro"/>
              </a:rPr>
              <a:t>Red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US" b="1" i="0" dirty="0">
                <a:solidFill>
                  <a:srgbClr val="00B050"/>
                </a:solidFill>
                <a:effectLst/>
                <a:latin typeface="source-serif-pro"/>
              </a:rPr>
              <a:t>Green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, and Refactor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 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426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5B2C-2607-EE24-62CF-F48F3953D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8995" y="1293547"/>
            <a:ext cx="10640289" cy="1031795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Red: </a:t>
            </a:r>
            <a:r>
              <a:rPr lang="en-US" dirty="0"/>
              <a:t>Write a test for new feature or behavior that fails initially because the code does noy exist yet.</a:t>
            </a:r>
          </a:p>
          <a:p>
            <a:r>
              <a:rPr lang="en-US" b="1" dirty="0">
                <a:solidFill>
                  <a:srgbClr val="00B050"/>
                </a:solidFill>
              </a:rPr>
              <a:t>Green: </a:t>
            </a:r>
            <a:r>
              <a:rPr lang="en-US" dirty="0"/>
              <a:t>Write just enough code to pass the test. This means creating the simplest implementation that makes the test succeed.</a:t>
            </a:r>
          </a:p>
          <a:p>
            <a:r>
              <a:rPr lang="en-US" b="1" dirty="0">
                <a:solidFill>
                  <a:schemeClr val="accent6"/>
                </a:solidFill>
              </a:rPr>
              <a:t>Refactor: </a:t>
            </a:r>
            <a:r>
              <a:rPr lang="en-US" dirty="0"/>
              <a:t>Improve the code by refactoring while ensuring that all tests still pass. This step is where you clean up the code for readability and efficiency. </a:t>
            </a:r>
            <a:endParaRPr lang="en-CA" dirty="0"/>
          </a:p>
        </p:txBody>
      </p:sp>
      <p:pic>
        <p:nvPicPr>
          <p:cNvPr id="1026" name="Picture 2" descr="XenonStack Test Driven Development Tools">
            <a:extLst>
              <a:ext uri="{FF2B5EF4-FFF2-40B4-BE49-F238E27FC236}">
                <a16:creationId xmlns:a16="http://schemas.microsoft.com/office/drawing/2014/main" id="{03E265B5-EDFA-D1E7-A49B-FF2E132286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" t="3584" r="20361" b="145"/>
          <a:stretch/>
        </p:blipFill>
        <p:spPr bwMode="auto">
          <a:xfrm>
            <a:off x="83129" y="1293547"/>
            <a:ext cx="13161818" cy="103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07437-A7A0-EA91-E20F-493E038FBDF8}"/>
              </a:ext>
            </a:extLst>
          </p:cNvPr>
          <p:cNvSpPr txBox="1"/>
          <p:nvPr/>
        </p:nvSpPr>
        <p:spPr>
          <a:xfrm>
            <a:off x="4682837" y="1263956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Source: https://images.app.goo.gl/75ZpZfbGqr2pckGi8</a:t>
            </a:r>
          </a:p>
        </p:txBody>
      </p:sp>
    </p:spTree>
    <p:extLst>
      <p:ext uri="{BB962C8B-B14F-4D97-AF65-F5344CB8AC3E}">
        <p14:creationId xmlns:p14="http://schemas.microsoft.com/office/powerpoint/2010/main" val="23328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C13D-C6B6-5C2B-ACA0-EF069617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2" y="304799"/>
            <a:ext cx="5250982" cy="1300299"/>
          </a:xfrm>
        </p:spPr>
        <p:txBody>
          <a:bodyPr>
            <a:normAutofit/>
          </a:bodyPr>
          <a:lstStyle/>
          <a:p>
            <a:r>
              <a:rPr lang="en-US" dirty="0"/>
              <a:t>TDD Cycle: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22E92-5BAA-0774-0478-132866A2DE1A}"/>
              </a:ext>
            </a:extLst>
          </p:cNvPr>
          <p:cNvSpPr txBox="1"/>
          <p:nvPr/>
        </p:nvSpPr>
        <p:spPr>
          <a:xfrm>
            <a:off x="5715000" y="1286827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Source: </a:t>
            </a:r>
            <a:r>
              <a:rPr lang="en-CA" dirty="0">
                <a:hlinkClick r:id="rId2"/>
              </a:rPr>
              <a:t>https://images.app.goo.gl/SuGtu4bGBh7xw5AV8</a:t>
            </a:r>
            <a:r>
              <a:rPr lang="en-CA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FC493-32EA-9A26-5F1F-1ABEB7F21E27}"/>
              </a:ext>
            </a:extLst>
          </p:cNvPr>
          <p:cNvSpPr txBox="1"/>
          <p:nvPr/>
        </p:nvSpPr>
        <p:spPr>
          <a:xfrm>
            <a:off x="6927274" y="277091"/>
            <a:ext cx="167362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Ensures that the code meets the specified requirements and is tested from the very beginning.</a:t>
            </a:r>
            <a:endParaRPr lang="en-CA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8712FD-81FB-08C2-64A0-F8C927C94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96" y="1628238"/>
            <a:ext cx="11617365" cy="1126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09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91D5-1AE2-FEE7-C205-9C2CDC24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TDD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3DDF-2A31-713E-18A7-5644B017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2971800"/>
            <a:ext cx="21029831" cy="92456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Early Bug Detection: </a:t>
            </a:r>
            <a:r>
              <a:rPr lang="en-US" dirty="0"/>
              <a:t>By testing each unit of your code as you write it, you can catch bugs early-before they pile up into bigger issues.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Documentation: </a:t>
            </a:r>
            <a:r>
              <a:rPr lang="en-US" dirty="0"/>
              <a:t>Unit tests serve as documentation for your code. If you come back to a project after a few months, the tests tell you what each method is supposed to do.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Facilitates Refactoring: </a:t>
            </a:r>
            <a:r>
              <a:rPr lang="en-US" dirty="0"/>
              <a:t>When you need to change your code, unit tests provide a safety net. They ensure that any new changes don’t accidently break existing functionality.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Improved Code Design: </a:t>
            </a:r>
            <a:r>
              <a:rPr lang="en-US" dirty="0"/>
              <a:t>Writing Unit tests forces you to think about how your code is structured. As a result, your code tends to be cleaner and more modular.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808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380F-8EB5-9E84-9FF9-AC9E662E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407F-9A35-676B-822A-CB5EF80D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870" y="0"/>
            <a:ext cx="21029831" cy="2651126"/>
          </a:xfrm>
        </p:spPr>
        <p:txBody>
          <a:bodyPr/>
          <a:lstStyle/>
          <a:p>
            <a:r>
              <a:rPr lang="en-US" dirty="0"/>
              <a:t>What is Unit Test 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12281-5D97-3333-8727-99340AC4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7" y="2545487"/>
            <a:ext cx="22958854" cy="793586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Unit Tests basically test individual parts  of code.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A Unit Test is a code written by any programmer which test small pieces of functionality of big programs.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Generally, the tests cases are written in the form of functions that will evaluate and determine whether a returned value after performing Unit Test is equals to the value you were expecting when you wrote the function. 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The main objective in unit testing is to isolate a unit part of code and validate its to correctness and reliable. </a:t>
            </a:r>
            <a:endParaRPr lang="en-CA" dirty="0">
              <a:solidFill>
                <a:srgbClr val="242424"/>
              </a:solidFill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02181791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574A-4C38-E71E-C40D-7E91CCC7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test methods are divided into three sessions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7F8AD-649D-999D-6DDE-3BDB9831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048000"/>
            <a:ext cx="21920309" cy="9194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070C0"/>
                </a:solidFill>
              </a:rPr>
              <a:t>Arrange, Act, Assert” </a:t>
            </a:r>
            <a:r>
              <a:rPr lang="en-US" sz="4000" dirty="0"/>
              <a:t>(</a:t>
            </a:r>
            <a:r>
              <a:rPr lang="en-US" sz="4000" b="1" dirty="0"/>
              <a:t>AAA</a:t>
            </a:r>
            <a:r>
              <a:rPr lang="en-US" sz="4000" dirty="0"/>
              <a:t>) is a pattern commonly used in unit testing to structure and organize test code. It provides a clear and systematic approach to writing test cases.</a:t>
            </a:r>
          </a:p>
          <a:p>
            <a:pPr>
              <a:lnSpc>
                <a:spcPct val="120000"/>
              </a:lnSpc>
            </a:pPr>
            <a:r>
              <a:rPr lang="en-US" sz="4000" b="1" dirty="0"/>
              <a:t>Arrange: </a:t>
            </a:r>
            <a:r>
              <a:rPr lang="en-US" sz="4000" dirty="0"/>
              <a:t>The Arrange phase is where you set up the preconditions or the initial state for your test.</a:t>
            </a:r>
          </a:p>
          <a:p>
            <a:pPr>
              <a:lnSpc>
                <a:spcPct val="120000"/>
              </a:lnSpc>
            </a:pPr>
            <a:r>
              <a:rPr lang="en-US" sz="4000" b="1" dirty="0"/>
              <a:t>Act:</a:t>
            </a:r>
            <a:r>
              <a:rPr lang="en-US" sz="4000" dirty="0"/>
              <a:t> The Act phase is where you invoke the actual method or function that you want to test.</a:t>
            </a:r>
          </a:p>
          <a:p>
            <a:pPr>
              <a:lnSpc>
                <a:spcPct val="120000"/>
              </a:lnSpc>
            </a:pPr>
            <a:r>
              <a:rPr lang="en-US" sz="4000" b="1" dirty="0"/>
              <a:t>Assert: </a:t>
            </a:r>
            <a:r>
              <a:rPr lang="en-US" sz="4000" dirty="0"/>
              <a:t>The Assert phase is where you verify the outcome of the action performed in the Act phase. You check whether the actual results match the expected results or conditions.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317119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1253-273A-79A3-57CE-3CF78EB2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Test Code with </a:t>
            </a:r>
            <a:r>
              <a:rPr lang="en-US" dirty="0" err="1"/>
              <a:t>xUnit</a:t>
            </a:r>
            <a:r>
              <a:rPr lang="en-US" dirty="0"/>
              <a:t> Attributes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463B5-E943-F613-7CB5-9E98A377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235200"/>
            <a:ext cx="22174199" cy="9144000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70C0"/>
                </a:solidFill>
              </a:rPr>
              <a:t>[Fact]: </a:t>
            </a:r>
            <a:r>
              <a:rPr lang="en-US" dirty="0"/>
              <a:t>Marks a test method that should always be executed by the test runner. </a:t>
            </a:r>
          </a:p>
          <a:p>
            <a:pPr>
              <a:lnSpc>
                <a:spcPct val="120000"/>
              </a:lnSpc>
            </a:pPr>
            <a:r>
              <a:rPr lang="en-US" dirty="0"/>
              <a:t>Fact annotation is used to describe a single test method without a parameter, they are mainly used for simple test cases.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70C0"/>
                </a:solidFill>
              </a:rPr>
              <a:t>[Theory]: </a:t>
            </a:r>
            <a:r>
              <a:rPr lang="en-US" dirty="0"/>
              <a:t>Marks a test method that should be executed with multiple input values, specified using the [</a:t>
            </a:r>
            <a:r>
              <a:rPr lang="en-US" dirty="0" err="1"/>
              <a:t>InlineData</a:t>
            </a:r>
            <a:r>
              <a:rPr lang="en-US" dirty="0"/>
              <a:t>] attribute.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dirty="0" err="1">
                <a:solidFill>
                  <a:srgbClr val="0070C0"/>
                </a:solidFill>
              </a:rPr>
              <a:t>InlineData</a:t>
            </a:r>
            <a:r>
              <a:rPr lang="en-US" dirty="0">
                <a:solidFill>
                  <a:srgbClr val="0070C0"/>
                </a:solidFill>
              </a:rPr>
              <a:t>]: </a:t>
            </a:r>
            <a:r>
              <a:rPr lang="en-US" dirty="0"/>
              <a:t>Specifies input values for a parameterized test method marked with the [Theory] attribute.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3890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6FFF-28BB-A4FD-5A00-51FA19AF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B636-4D3A-CB0D-2D8A-DDA4A535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Test Code with </a:t>
            </a:r>
            <a:r>
              <a:rPr lang="en-US" dirty="0" err="1"/>
              <a:t>xUnit</a:t>
            </a:r>
            <a:r>
              <a:rPr lang="en-US" dirty="0"/>
              <a:t> Attributes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14347-31FB-1707-95C6-EBBE13B1D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35199"/>
            <a:ext cx="23545799" cy="2651125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Theory annotations are similar to Fact, but they are parameterized. It allows you to write a single test method that can be executed with multiple sets of inputs. Theories are annotated with [Theory] and use attributes like [</a:t>
            </a:r>
            <a:r>
              <a:rPr lang="en-US" dirty="0" err="1"/>
              <a:t>InlineData</a:t>
            </a:r>
            <a:r>
              <a:rPr lang="en-US" dirty="0"/>
              <a:t>] to provide different test cases.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49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BCB9-C6FE-CB9E-D2C0-E0908A1A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 Implementation of TDD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D063-3B94-3CA1-1A92-38AF1A24B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Sample Requirements:</a:t>
            </a:r>
          </a:p>
          <a:p>
            <a:pPr marL="0" indent="0">
              <a:buNone/>
            </a:pPr>
            <a:r>
              <a:rPr lang="en-US" dirty="0"/>
              <a:t>   A higher sales amount results in a higher discount.</a:t>
            </a:r>
          </a:p>
          <a:p>
            <a:pPr lvl="1"/>
            <a:r>
              <a:rPr lang="en-US" dirty="0"/>
              <a:t>The discount percentage should be determined based on predefined ranges:</a:t>
            </a:r>
          </a:p>
          <a:p>
            <a:pPr lvl="2"/>
            <a:r>
              <a:rPr lang="en-US" b="1" dirty="0"/>
              <a:t>Sales amount below 100: </a:t>
            </a:r>
            <a:r>
              <a:rPr lang="en-US" dirty="0"/>
              <a:t>0% discount</a:t>
            </a:r>
          </a:p>
          <a:p>
            <a:pPr lvl="2"/>
            <a:r>
              <a:rPr lang="en-US" b="1" dirty="0"/>
              <a:t>Sales amount between 100 and 500: </a:t>
            </a:r>
            <a:r>
              <a:rPr lang="en-US" dirty="0"/>
              <a:t>10% discount</a:t>
            </a:r>
          </a:p>
          <a:p>
            <a:pPr lvl="2"/>
            <a:r>
              <a:rPr lang="en-US" b="1" dirty="0"/>
              <a:t>Sales amount between 500 and 1000:</a:t>
            </a:r>
            <a:r>
              <a:rPr lang="en-US" dirty="0"/>
              <a:t> 20% discount</a:t>
            </a:r>
          </a:p>
          <a:p>
            <a:pPr lvl="2"/>
            <a:r>
              <a:rPr lang="en-US" b="1" dirty="0"/>
              <a:t>Sales amount above 1000: </a:t>
            </a:r>
            <a:r>
              <a:rPr lang="en-US" dirty="0"/>
              <a:t>30% discount</a:t>
            </a:r>
          </a:p>
          <a:p>
            <a:r>
              <a:rPr lang="en-US" b="1" dirty="0"/>
              <a:t>Calculate the final price based on the discount percentage.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12547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BC98-D525-10D8-1DA4-630DCB7C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016C-E08B-6CF2-F7A5-5767C14C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BE10-F796-7DA3-E335-CE650838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2212409" cy="7373801"/>
          </a:xfrm>
        </p:spPr>
        <p:txBody>
          <a:bodyPr/>
          <a:lstStyle/>
          <a:p>
            <a:r>
              <a:rPr lang="en-US" dirty="0"/>
              <a:t>Running Unit Tests using Visual studio 2022</a:t>
            </a:r>
          </a:p>
          <a:p>
            <a:pPr lvl="1"/>
            <a:r>
              <a:rPr lang="en-US" dirty="0"/>
              <a:t>Create Test Project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xUnit</a:t>
            </a:r>
            <a:r>
              <a:rPr lang="en-US" dirty="0"/>
              <a:t> package</a:t>
            </a:r>
          </a:p>
          <a:p>
            <a:pPr lvl="1"/>
            <a:r>
              <a:rPr lang="en-US" dirty="0"/>
              <a:t>Write Unit Tests </a:t>
            </a:r>
            <a:r>
              <a:rPr lang="en-US"/>
              <a:t>and run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7199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e3031-a624-439f-9365-f35f4095a06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0D8F21E27A1046B906AB74EEBC017F" ma:contentTypeVersion="13" ma:contentTypeDescription="Create a new document." ma:contentTypeScope="" ma:versionID="afd610e14939d1014c69da18b837b873">
  <xsd:schema xmlns:xsd="http://www.w3.org/2001/XMLSchema" xmlns:xs="http://www.w3.org/2001/XMLSchema" xmlns:p="http://schemas.microsoft.com/office/2006/metadata/properties" xmlns:ns3="a33e3031-a624-439f-9365-f35f4095a06e" xmlns:ns4="94b94c66-98ff-4edc-91a0-3cbab99a930f" targetNamespace="http://schemas.microsoft.com/office/2006/metadata/properties" ma:root="true" ma:fieldsID="cd898ab2a322cfd7e7115a6031bba6b9" ns3:_="" ns4:_="">
    <xsd:import namespace="a33e3031-a624-439f-9365-f35f4095a06e"/>
    <xsd:import namespace="94b94c66-98ff-4edc-91a0-3cbab99a930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e3031-a624-439f-9365-f35f4095a0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94c66-98ff-4edc-91a0-3cbab99a930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94b94c66-98ff-4edc-91a0-3cbab99a930f"/>
    <ds:schemaRef ds:uri="a33e3031-a624-439f-9365-f35f4095a06e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5E3E0FC-5BC5-4A9D-812C-9D29885BC6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3e3031-a624-439f-9365-f35f4095a06e"/>
    <ds:schemaRef ds:uri="94b94c66-98ff-4edc-91a0-3cbab99a9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NAIT-Brand-PPT_TEMPLATE_2020</Template>
  <TotalTime>5705</TotalTime>
  <Words>851</Words>
  <Application>Microsoft Office PowerPoint</Application>
  <PresentationFormat>Custom</PresentationFormat>
  <Paragraphs>68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Cpsc1517</vt:lpstr>
      <vt:lpstr>Lesson Objective</vt:lpstr>
      <vt:lpstr>AGENDA </vt:lpstr>
      <vt:lpstr>Exploring the Topic</vt:lpstr>
      <vt:lpstr>Test Driven Development (TDD)</vt:lpstr>
      <vt:lpstr>PowerPoint Presentation</vt:lpstr>
      <vt:lpstr>TDD Cycle: </vt:lpstr>
      <vt:lpstr>Benefits of TDD</vt:lpstr>
      <vt:lpstr>What is Unit Test ?</vt:lpstr>
      <vt:lpstr>All test methods are divided into three sessions</vt:lpstr>
      <vt:lpstr>Optimizing Test Code with xUnit Attributes </vt:lpstr>
      <vt:lpstr>Optimizing Test Code with xUnit Attributes </vt:lpstr>
      <vt:lpstr>Step by step Implementation of TDD</vt:lpstr>
      <vt:lpstr>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PTE 200 F2F Lesson</dc:title>
  <dc:creator>Michael Cimolini</dc:creator>
  <cp:lastModifiedBy>Baljeet Kaur</cp:lastModifiedBy>
  <cp:revision>18</cp:revision>
  <cp:lastPrinted>2019-08-01T00:13:24Z</cp:lastPrinted>
  <dcterms:created xsi:type="dcterms:W3CDTF">2024-08-13T01:55:57Z</dcterms:created>
  <dcterms:modified xsi:type="dcterms:W3CDTF">2026-01-19T19:12:30Z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0x010100A60D8F21E27A1046B906AB74EEBC017F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2026-01-19T19:12:27Z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e0c94392-5e3c-4267-ad26-e2c13d3ddcac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10, 3, 0, 2</vt:lpwstr>
  </property>
</Properties>
</file>