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</p:sldMasterIdLst>
  <p:notesMasterIdLst>
    <p:notesMasterId r:id="rId26"/>
  </p:notesMasterIdLst>
  <p:handoutMasterIdLst>
    <p:handoutMasterId r:id="rId27"/>
  </p:handoutMasterIdLst>
  <p:sldIdLst>
    <p:sldId id="271" r:id="rId5"/>
    <p:sldId id="312" r:id="rId6"/>
    <p:sldId id="296" r:id="rId7"/>
    <p:sldId id="302" r:id="rId8"/>
    <p:sldId id="305" r:id="rId9"/>
    <p:sldId id="306" r:id="rId10"/>
    <p:sldId id="303" r:id="rId11"/>
    <p:sldId id="313" r:id="rId12"/>
    <p:sldId id="301" r:id="rId13"/>
    <p:sldId id="304" r:id="rId14"/>
    <p:sldId id="314" r:id="rId15"/>
    <p:sldId id="307" r:id="rId16"/>
    <p:sldId id="316" r:id="rId17"/>
    <p:sldId id="310" r:id="rId18"/>
    <p:sldId id="309" r:id="rId19"/>
    <p:sldId id="311" r:id="rId20"/>
    <p:sldId id="317" r:id="rId21"/>
    <p:sldId id="284" r:id="rId22"/>
    <p:sldId id="297" r:id="rId23"/>
    <p:sldId id="277" r:id="rId24"/>
    <p:sldId id="308" r:id="rId25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FC36A8-B4AD-4175-88A7-13962276E3A3}" v="223" dt="2025-01-14T12:55:23.5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73919" autoAdjust="0"/>
  </p:normalViewPr>
  <p:slideViewPr>
    <p:cSldViewPr snapToGrid="0" snapToObjects="1" showGuides="1">
      <p:cViewPr varScale="1">
        <p:scale>
          <a:sx n="23" d="100"/>
          <a:sy n="23" d="100"/>
        </p:scale>
        <p:origin x="1087" y="53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6B3F030-25FA-A543-BFBF-761F02F6E6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D2FF95-1FB2-5A4B-9A6E-D20FD3F889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85D7A-CA92-5443-B821-58789E6DAB7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E767D0-AB74-6C43-A583-F67E29C687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F816A-9129-4E41-8433-93B18C20AF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43503-5B3B-BC4A-B035-E280D6581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5409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1C7B9-A579-490D-96A9-04D5B7898F72}" type="datetimeFigureOut">
              <a:rPr lang="en-CA" smtClean="0"/>
              <a:t>2026-01-19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E641A9-FDE3-4583-B812-65C4064188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3227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9250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2400"/>
              </a:lnSpc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In this example, the 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BankAccount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class encapsulates data (the balance field) and related operations (the Deposit and Withdraw methods). The balance field is marked as private, meaning it can only be accessed within the 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BankAccount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class. This ensures that the balance can only be modified through the Deposit and Withdraw methods, which can enforce any necessary business logic or validation.</a:t>
            </a:r>
          </a:p>
          <a:p>
            <a:pPr>
              <a:lnSpc>
                <a:spcPts val="2400"/>
              </a:lnSpc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The 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GetBalance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method, on the other hand, is marked as public, meaning it can be called from outside the 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BankAccount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class. This allows other code to retrieve the balance without being able to modify it directly.</a:t>
            </a:r>
          </a:p>
          <a:p>
            <a:br>
              <a:rPr lang="en-US" b="0" i="0" dirty="0">
                <a:effectLst/>
                <a:latin typeface="medium-content-sans-serif-font"/>
              </a:rPr>
            </a:b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6147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5799" y="5078186"/>
            <a:ext cx="21210814" cy="2937782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9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5799" y="8752114"/>
            <a:ext cx="21210814" cy="2269673"/>
          </a:xfrm>
        </p:spPr>
        <p:txBody>
          <a:bodyPr/>
          <a:lstStyle>
            <a:lvl1pPr marL="0" indent="0" algn="ctr">
              <a:buNone/>
              <a:defRPr sz="4800">
                <a:solidFill>
                  <a:schemeClr val="bg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50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291" y="3651250"/>
            <a:ext cx="21029831" cy="73738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 userDrawn="1"/>
        </p:nvSpPr>
        <p:spPr>
          <a:xfrm>
            <a:off x="3962400" y="13598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977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291" y="3651249"/>
            <a:ext cx="10362526" cy="91013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3596" y="3651250"/>
            <a:ext cx="10362526" cy="75664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497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72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291" y="3651250"/>
            <a:ext cx="21029831" cy="696232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45748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5799" y="5570555"/>
            <a:ext cx="21210814" cy="2937782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8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353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587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87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D4256BD-EBF6-F04C-B88C-52582AC3F228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3E0FCCE-2EC3-1049-A592-35D9C66527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44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98" r:id="rId2"/>
    <p:sldLayoutId id="2147483695" r:id="rId3"/>
    <p:sldLayoutId id="2147483676" r:id="rId4"/>
    <p:sldLayoutId id="2147483703" r:id="rId5"/>
    <p:sldLayoutId id="2147483704" r:id="rId6"/>
    <p:sldLayoutId id="2147483705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72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w3schools.com/cs/cs_properties.php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dotnet/api/system.systemexception?view=net-8.0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dotnet/csharp/fundamentals/coding-style/identifier-nam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34F75-93C1-9D40-86A3-4C13A50E20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Cpsc1517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D672B5-6320-EE4E-B160-EE8483FDF1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OOP Review – Day 0</a:t>
            </a:r>
          </a:p>
        </p:txBody>
      </p:sp>
    </p:spTree>
    <p:extLst>
      <p:ext uri="{BB962C8B-B14F-4D97-AF65-F5344CB8AC3E}">
        <p14:creationId xmlns:p14="http://schemas.microsoft.com/office/powerpoint/2010/main" val="1088597702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51512-A3A0-68FC-EA4D-9644DA669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Lesson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812E9-0C28-92B4-141A-B86CEC8CB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CA" dirty="0"/>
              <a:t>By the end of this lesson, learners should be able to:</a:t>
            </a:r>
          </a:p>
          <a:p>
            <a:pPr marL="0" indent="0">
              <a:buNone/>
            </a:pPr>
            <a:endParaRPr lang="en-CA" dirty="0"/>
          </a:p>
          <a:p>
            <a:pPr lvl="1"/>
            <a:r>
              <a:rPr lang="en-CA" dirty="0"/>
              <a:t>Define Class Library</a:t>
            </a:r>
          </a:p>
          <a:p>
            <a:pPr lvl="1"/>
            <a:r>
              <a:rPr lang="en-CA" dirty="0"/>
              <a:t>Components of Class ( Principle of Encapsulation)</a:t>
            </a:r>
          </a:p>
          <a:p>
            <a:pPr lvl="1"/>
            <a:endParaRPr lang="en-CA" dirty="0"/>
          </a:p>
          <a:p>
            <a:pPr lvl="2"/>
            <a:r>
              <a:rPr lang="en-CA" dirty="0"/>
              <a:t>Attributes ( Data members )</a:t>
            </a:r>
          </a:p>
          <a:p>
            <a:pPr lvl="2"/>
            <a:r>
              <a:rPr lang="en-CA" dirty="0"/>
              <a:t>Behaviour ( Methods )</a:t>
            </a:r>
          </a:p>
          <a:p>
            <a:pPr lvl="2"/>
            <a:r>
              <a:rPr lang="en-CA" dirty="0"/>
              <a:t>Properties (Auto-Implemented vs Fully-Implemented Properties )</a:t>
            </a:r>
          </a:p>
          <a:p>
            <a:pPr lvl="2"/>
            <a:r>
              <a:rPr lang="en-CA" dirty="0"/>
              <a:t>Constructors (</a:t>
            </a:r>
          </a:p>
          <a:p>
            <a:pPr marL="1828709" lvl="2" indent="0">
              <a:buNone/>
            </a:pPr>
            <a:endParaRPr lang="en-CA" dirty="0"/>
          </a:p>
          <a:p>
            <a:pPr lvl="1"/>
            <a:r>
              <a:rPr lang="en-CA" dirty="0"/>
              <a:t>Access Modifiers / Specifiers </a:t>
            </a:r>
          </a:p>
          <a:p>
            <a:pPr lvl="2"/>
            <a:r>
              <a:rPr lang="en-CA" dirty="0"/>
              <a:t>public/private/protected/internal </a:t>
            </a:r>
          </a:p>
          <a:p>
            <a:pPr lvl="1"/>
            <a:r>
              <a:rPr lang="en-CA" dirty="0"/>
              <a:t>Clean code approach using the #region keyword</a:t>
            </a:r>
          </a:p>
          <a:p>
            <a:pPr lvl="1"/>
            <a:r>
              <a:rPr lang="en-CA" dirty="0"/>
              <a:t>Use Exceptions</a:t>
            </a:r>
          </a:p>
        </p:txBody>
      </p:sp>
    </p:spTree>
    <p:extLst>
      <p:ext uri="{BB962C8B-B14F-4D97-AF65-F5344CB8AC3E}">
        <p14:creationId xmlns:p14="http://schemas.microsoft.com/office/powerpoint/2010/main" val="12403194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4919A4-010A-259F-E268-900B06CFDF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Exploring the Topic</a:t>
            </a:r>
          </a:p>
        </p:txBody>
      </p:sp>
    </p:spTree>
    <p:extLst>
      <p:ext uri="{BB962C8B-B14F-4D97-AF65-F5344CB8AC3E}">
        <p14:creationId xmlns:p14="http://schemas.microsoft.com/office/powerpoint/2010/main" val="1876611637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5380F-8EB5-9E84-9FF9-AC9E662E8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F407F-9A35-676B-822A-CB5EF80D2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N</a:t>
            </a:r>
            <a:r>
              <a:rPr lang="en-CA" dirty="0" err="1"/>
              <a:t>ameing</a:t>
            </a:r>
            <a:r>
              <a:rPr lang="en-CA" dirty="0"/>
              <a:t> 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12281-5D97-3333-8727-99340AC48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Use Pascal Case (</a:t>
            </a:r>
            <a:r>
              <a:rPr lang="en-CA" dirty="0" err="1"/>
              <a:t>TheFirstLetterOfEveryWordIsCapitalized</a:t>
            </a:r>
            <a:r>
              <a:rPr lang="en-CA" dirty="0"/>
              <a:t>)</a:t>
            </a:r>
          </a:p>
          <a:p>
            <a:r>
              <a:rPr lang="en-CA" dirty="0"/>
              <a:t>Generally short and descriptive</a:t>
            </a:r>
          </a:p>
          <a:p>
            <a:r>
              <a:rPr lang="en-CA" dirty="0"/>
              <a:t>Generally singular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2181791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7BC98-D525-10D8-1DA4-630DCB7CA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7016C-E08B-6CF2-F7A5-5767C14C1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Class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6BE10-F796-7DA3-E335-CE650838E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291" y="3651250"/>
            <a:ext cx="22212409" cy="7373801"/>
          </a:xfrm>
        </p:spPr>
        <p:txBody>
          <a:bodyPr/>
          <a:lstStyle/>
          <a:p>
            <a:r>
              <a:rPr lang="en-CA" dirty="0">
                <a:highlight>
                  <a:srgbClr val="C0C0C0"/>
                </a:highlight>
              </a:rPr>
              <a:t>Attributes</a:t>
            </a:r>
            <a:r>
              <a:rPr lang="en-CA" dirty="0"/>
              <a:t> aka Data Members (_Name)</a:t>
            </a:r>
          </a:p>
          <a:p>
            <a:r>
              <a:rPr lang="en-CA" dirty="0">
                <a:highlight>
                  <a:srgbClr val="C0C0C0"/>
                </a:highlight>
              </a:rPr>
              <a:t>Methods</a:t>
            </a:r>
            <a:r>
              <a:rPr lang="en-CA" dirty="0"/>
              <a:t> aka Behaviours (</a:t>
            </a:r>
            <a:r>
              <a:rPr lang="en-CA" dirty="0">
                <a:solidFill>
                  <a:schemeClr val="accent2"/>
                </a:solidFill>
              </a:rPr>
              <a:t>accessor</a:t>
            </a:r>
            <a:r>
              <a:rPr lang="en-CA" dirty="0"/>
              <a:t> </a:t>
            </a:r>
            <a:r>
              <a:rPr lang="en-CA" dirty="0" err="1">
                <a:solidFill>
                  <a:srgbClr val="00B050"/>
                </a:solidFill>
              </a:rPr>
              <a:t>return_type</a:t>
            </a:r>
            <a:r>
              <a:rPr lang="en-CA" dirty="0">
                <a:solidFill>
                  <a:srgbClr val="00B050"/>
                </a:solidFill>
              </a:rPr>
              <a:t> </a:t>
            </a:r>
            <a:r>
              <a:rPr lang="en-CA" dirty="0"/>
              <a:t>Name(parameters))</a:t>
            </a:r>
          </a:p>
          <a:p>
            <a:r>
              <a:rPr lang="en-CA" dirty="0">
                <a:highlight>
                  <a:srgbClr val="C0C0C0"/>
                </a:highlight>
              </a:rPr>
              <a:t>Properties</a:t>
            </a:r>
            <a:r>
              <a:rPr lang="en-CA" dirty="0"/>
              <a:t> (Name)</a:t>
            </a:r>
          </a:p>
          <a:p>
            <a:r>
              <a:rPr lang="en-CA" dirty="0">
                <a:highlight>
                  <a:srgbClr val="C0C0C0"/>
                </a:highlight>
              </a:rPr>
              <a:t>Constructors</a:t>
            </a:r>
            <a:r>
              <a:rPr lang="en-CA" dirty="0"/>
              <a:t> (Same as class name, various types)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71998251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86A5B8-EACB-4653-CF4D-0ECFE8D02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2412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ED5C8-FB55-9B5F-E888-D85C34144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4333" y="85728"/>
            <a:ext cx="8829121" cy="18351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7800" dirty="0">
                <a:solidFill>
                  <a:schemeClr val="tx1"/>
                </a:solidFill>
                <a:latin typeface="+mj-lt"/>
                <a:cs typeface="+mj-cs"/>
              </a:rPr>
              <a:t>Encapsulation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559069" cy="13716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D5F878-B7DD-2220-C564-B398A30726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99"/>
          <a:stretch/>
        </p:blipFill>
        <p:spPr>
          <a:xfrm>
            <a:off x="558249" y="599018"/>
            <a:ext cx="10442570" cy="12517966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CFE59-F802-8E02-D254-ED3CCFB532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30050" y="2495550"/>
            <a:ext cx="12191999" cy="106214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/>
            <a:r>
              <a:rPr lang="en-US" sz="4000" dirty="0">
                <a:solidFill>
                  <a:schemeClr val="tx1">
                    <a:alpha val="80000"/>
                  </a:schemeClr>
                </a:solidFill>
                <a:latin typeface="+mn-lt"/>
                <a:cs typeface="+mn-cs"/>
              </a:rPr>
              <a:t>A fundamental concept in OOP</a:t>
            </a:r>
          </a:p>
          <a:p>
            <a:pPr indent="-228600" defTabSz="914400"/>
            <a:r>
              <a:rPr lang="en-US" sz="4000" dirty="0">
                <a:solidFill>
                  <a:schemeClr val="tx1">
                    <a:alpha val="80000"/>
                  </a:schemeClr>
                </a:solidFill>
                <a:latin typeface="+mn-lt"/>
                <a:cs typeface="+mn-cs"/>
              </a:rPr>
              <a:t>It refers to the bundling of data and related operations into a single unit, or object. </a:t>
            </a:r>
          </a:p>
          <a:p>
            <a:pPr indent="-228600" defTabSz="914400"/>
            <a:r>
              <a:rPr lang="en-US" sz="4000" dirty="0">
                <a:solidFill>
                  <a:schemeClr val="tx1">
                    <a:alpha val="80000"/>
                  </a:schemeClr>
                </a:solidFill>
                <a:latin typeface="+mn-lt"/>
                <a:cs typeface="+mn-cs"/>
              </a:rPr>
              <a:t>In C#, encapsulation is achieved through the use of classes and access modifiers such as public, private, and protected.</a:t>
            </a:r>
          </a:p>
          <a:p>
            <a:pPr indent="-228600" defTabSz="914400"/>
            <a:r>
              <a:rPr lang="en-US" sz="4000" dirty="0">
                <a:solidFill>
                  <a:schemeClr val="tx1">
                    <a:alpha val="80000"/>
                  </a:schemeClr>
                </a:solidFill>
              </a:rPr>
              <a:t>The meaning of Encapsulation, is to make sure that "sensitive" data is hidden from users. To achieve this, you must:</a:t>
            </a:r>
          </a:p>
          <a:p>
            <a:pPr indent="-228600" defTabSz="914400"/>
            <a:endParaRPr lang="en-US" sz="4000" dirty="0">
              <a:solidFill>
                <a:schemeClr val="tx1">
                  <a:alpha val="80000"/>
                </a:schemeClr>
              </a:solidFill>
            </a:endParaRPr>
          </a:p>
          <a:p>
            <a:pPr lvl="1" indent="-228600" defTabSz="914400"/>
            <a:r>
              <a:rPr lang="en-US" sz="3600" dirty="0">
                <a:solidFill>
                  <a:schemeClr val="tx1">
                    <a:alpha val="80000"/>
                  </a:schemeClr>
                </a:solidFill>
              </a:rPr>
              <a:t>declare fields/variables as </a:t>
            </a:r>
            <a:r>
              <a:rPr lang="en-US" sz="3600" dirty="0">
                <a:solidFill>
                  <a:schemeClr val="accent3">
                    <a:alpha val="80000"/>
                  </a:schemeClr>
                </a:solidFill>
              </a:rPr>
              <a:t>private</a:t>
            </a:r>
          </a:p>
          <a:p>
            <a:pPr lvl="1" indent="-228600" defTabSz="914400"/>
            <a:r>
              <a:rPr lang="en-US" sz="3600" dirty="0">
                <a:solidFill>
                  <a:schemeClr val="tx1">
                    <a:alpha val="80000"/>
                  </a:schemeClr>
                </a:solidFill>
              </a:rPr>
              <a:t>provide </a:t>
            </a:r>
            <a:r>
              <a:rPr lang="en-US" sz="3600" dirty="0">
                <a:solidFill>
                  <a:schemeClr val="accent3">
                    <a:alpha val="80000"/>
                  </a:schemeClr>
                </a:solidFill>
              </a:rPr>
              <a:t>public get and set methods</a:t>
            </a:r>
            <a:r>
              <a:rPr lang="en-US" sz="3600" dirty="0">
                <a:solidFill>
                  <a:schemeClr val="tx1">
                    <a:alpha val="80000"/>
                  </a:schemeClr>
                </a:solidFill>
              </a:rPr>
              <a:t>, through properties, to access and update the value of a private field</a:t>
            </a:r>
          </a:p>
          <a:p>
            <a:pPr indent="-228600" defTabSz="914400"/>
            <a:endParaRPr lang="en-US" sz="4000" dirty="0">
              <a:solidFill>
                <a:schemeClr val="tx1">
                  <a:alpha val="80000"/>
                </a:schemeClr>
              </a:solidFill>
              <a:latin typeface="+mn-lt"/>
              <a:cs typeface="+mn-cs"/>
            </a:endParaRPr>
          </a:p>
          <a:p>
            <a:pPr indent="-228600" defTabSz="914400"/>
            <a:r>
              <a:rPr lang="en-US" sz="4000" dirty="0">
                <a:solidFill>
                  <a:schemeClr val="tx1">
                    <a:alpha val="80000"/>
                  </a:schemeClr>
                </a:solidFill>
                <a:latin typeface="+mn-lt"/>
                <a:cs typeface="+mn-cs"/>
                <a:hlinkClick r:id="rId4"/>
              </a:rPr>
              <a:t>C# Properties (Get and Set)</a:t>
            </a:r>
            <a:endParaRPr lang="en-US" sz="4000" dirty="0">
              <a:solidFill>
                <a:schemeClr val="tx1">
                  <a:alpha val="80000"/>
                </a:schemeClr>
              </a:solidFill>
              <a:latin typeface="+mn-lt"/>
              <a:cs typeface="+mn-cs"/>
            </a:endParaRPr>
          </a:p>
          <a:p>
            <a:pPr indent="-228600" defTabSz="914400"/>
            <a:endParaRPr lang="en-US" sz="4000" dirty="0">
              <a:solidFill>
                <a:schemeClr val="tx1">
                  <a:alpha val="80000"/>
                </a:schemeClr>
              </a:solidFill>
              <a:latin typeface="+mn-lt"/>
              <a:cs typeface="+mn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170815" y="7238544"/>
            <a:ext cx="0" cy="647745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083925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9E263-C8C1-A228-1B84-FB2666F02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9CCCD-3669-F147-AEA7-397C57C3E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Modifiers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8E931-FCF8-A928-3621-59B487D9A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Private – Can only be accessed in the same class/struct/etc.</a:t>
            </a:r>
          </a:p>
          <a:p>
            <a:r>
              <a:rPr lang="en-CA" dirty="0"/>
              <a:t>Internal – Can only be accessed in the same assembly. We will use it during client server application.</a:t>
            </a:r>
          </a:p>
          <a:p>
            <a:r>
              <a:rPr lang="en-CA" dirty="0"/>
              <a:t>Protected – Can only be accessed in the same or a derived class ( more discussion during inheritance).</a:t>
            </a:r>
          </a:p>
          <a:p>
            <a:endParaRPr lang="en-CA" dirty="0"/>
          </a:p>
          <a:p>
            <a:r>
              <a:rPr lang="en-CA" dirty="0"/>
              <a:t>Public – Can be accessed internally or externally.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60102579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E5615-3329-2CC5-3EA1-7F9D3077D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71EB7-A0FF-A247-C071-3DDC2AE4A1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3EB53-9CE8-4E8A-6B13-445975286D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6124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51512-A3A0-68FC-EA4D-9644DA669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CA" dirty="0"/>
              <a:t>lass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812E9-0C28-92B4-141A-B86CEC8CB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class library file is a collection of classes and namespaces in C# without any entry point method like Main.</a:t>
            </a:r>
          </a:p>
          <a:p>
            <a:r>
              <a:rPr lang="en-US" dirty="0"/>
              <a:t>Once we create a class library file it can be used in the C# project and classes inside it can be used as required.</a:t>
            </a:r>
          </a:p>
          <a:p>
            <a:r>
              <a:rPr lang="en-CA" dirty="0"/>
              <a:t>Defines one or more classes/methods/</a:t>
            </a:r>
            <a:r>
              <a:rPr lang="en-CA" dirty="0" err="1"/>
              <a:t>etc</a:t>
            </a:r>
            <a:r>
              <a:rPr lang="en-CA" dirty="0"/>
              <a:t> that we can reference in other projects</a:t>
            </a:r>
          </a:p>
          <a:p>
            <a:r>
              <a:rPr lang="en-CA" dirty="0"/>
              <a:t>Can not be run independently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4985644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296F2-05A1-E8BB-99C9-01AB5717C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6BBB3-C27D-0DFA-EB3C-563233878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#region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7BAA2-14BF-983D-1FF7-FF99615D1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handy tool to make our code more readable</a:t>
            </a:r>
          </a:p>
          <a:p>
            <a:r>
              <a:rPr lang="en-CA" dirty="0"/>
              <a:t>Allows us to easily collapse sections of our code (code folding)</a:t>
            </a:r>
          </a:p>
          <a:p>
            <a:r>
              <a:rPr lang="en-CA" dirty="0"/>
              <a:t>Can be named</a:t>
            </a:r>
          </a:p>
          <a:p>
            <a:endParaRPr lang="en-CA" dirty="0"/>
          </a:p>
          <a:p>
            <a:r>
              <a:rPr lang="en-CA" dirty="0"/>
              <a:t>Ex:</a:t>
            </a:r>
          </a:p>
          <a:p>
            <a:pPr marL="914354" lvl="1" indent="0">
              <a:buNone/>
            </a:pPr>
            <a:r>
              <a:rPr lang="en-CA" dirty="0"/>
              <a:t>#region Constructors</a:t>
            </a:r>
          </a:p>
          <a:p>
            <a:pPr marL="914354" lvl="1" indent="0">
              <a:buNone/>
            </a:pPr>
            <a:r>
              <a:rPr lang="en-CA" dirty="0"/>
              <a:t>#endregion </a:t>
            </a:r>
            <a:r>
              <a:rPr lang="en-CA" i="1" dirty="0"/>
              <a:t>Constructors		</a:t>
            </a:r>
            <a:r>
              <a:rPr lang="en-CA" dirty="0"/>
              <a:t>-Name is optional on </a:t>
            </a:r>
            <a:r>
              <a:rPr lang="en-CA" dirty="0" err="1"/>
              <a:t>endregion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97329585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DC07-ED9C-40A9-62FC-F3D7CE17F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6015B-1E3D-A572-55B6-53788206A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-apple-system"/>
              </a:rPr>
              <a:t>A property is a member of a class that provides a flexible mechanism to read, write, or compute the value of a private field. </a:t>
            </a:r>
          </a:p>
          <a:p>
            <a:r>
              <a:rPr lang="en-US" b="0" i="0" dirty="0">
                <a:effectLst/>
                <a:latin typeface="-apple-system"/>
              </a:rPr>
              <a:t>They are a type of class member that have accessors which define the operations to be performed on a field of the class.</a:t>
            </a:r>
          </a:p>
          <a:p>
            <a:r>
              <a:rPr lang="en-US" b="0" i="0" dirty="0">
                <a:effectLst/>
                <a:latin typeface="-apple-system"/>
              </a:rPr>
              <a:t>The get accessor: returns the value of a private field</a:t>
            </a:r>
          </a:p>
          <a:p>
            <a:r>
              <a:rPr lang="en-US" dirty="0">
                <a:latin typeface="-apple-system"/>
              </a:rPr>
              <a:t>The</a:t>
            </a:r>
            <a:r>
              <a:rPr lang="en-US" b="0" i="0" dirty="0">
                <a:effectLst/>
                <a:latin typeface="-apple-system"/>
              </a:rPr>
              <a:t> set accessor: assigns a value to  a private field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69577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AA0E1-0526-F019-5228-220B049A3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A0744-A9C3-DBA6-87F6-73CEE9327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Auto-implement vs Fully-Implement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548F4-F227-3B9F-AECC-02E1CD905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Auto-Implement:</a:t>
            </a:r>
          </a:p>
          <a:p>
            <a:pPr lvl="1"/>
            <a:r>
              <a:rPr lang="en-CA" dirty="0"/>
              <a:t>Not backed by an attribute</a:t>
            </a:r>
          </a:p>
          <a:p>
            <a:pPr lvl="1"/>
            <a:r>
              <a:rPr lang="en-CA" dirty="0"/>
              <a:t>Does not include validation or other code</a:t>
            </a:r>
          </a:p>
          <a:p>
            <a:endParaRPr lang="en-CA" dirty="0"/>
          </a:p>
          <a:p>
            <a:r>
              <a:rPr lang="en-CA" dirty="0"/>
              <a:t>Fully-Implement:</a:t>
            </a:r>
          </a:p>
          <a:p>
            <a:pPr lvl="1"/>
            <a:r>
              <a:rPr lang="en-CA" dirty="0"/>
              <a:t>Backed by a private attribute</a:t>
            </a:r>
          </a:p>
          <a:p>
            <a:pPr lvl="1"/>
            <a:r>
              <a:rPr lang="en-CA" dirty="0"/>
              <a:t>Can include validation or other code</a:t>
            </a:r>
          </a:p>
          <a:p>
            <a:pPr marL="0" indent="0">
              <a:buNone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7420021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1AC4D-99AF-B4C9-E138-6BB83994A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D3FDB-5D81-F90A-F0CE-D0773EC6F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Auto-implement vs Fully-Implement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C283B-483E-ED77-8B8F-9D6AC5025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050" y="3651250"/>
            <a:ext cx="23069549" cy="7373801"/>
          </a:xfrm>
        </p:spPr>
        <p:txBody>
          <a:bodyPr>
            <a:normAutofit/>
          </a:bodyPr>
          <a:lstStyle/>
          <a:p>
            <a:r>
              <a:rPr lang="en-US" b="1" dirty="0"/>
              <a:t>Read-Only Properties: </a:t>
            </a:r>
            <a:r>
              <a:rPr lang="en-US" dirty="0"/>
              <a:t>have a get accessor but no set accessor</a:t>
            </a:r>
          </a:p>
          <a:p>
            <a:r>
              <a:rPr lang="en-US" b="1" dirty="0"/>
              <a:t>Write-only properties</a:t>
            </a:r>
            <a:r>
              <a:rPr lang="en-US" dirty="0"/>
              <a:t>: have a set accessor but no get accessor.</a:t>
            </a:r>
          </a:p>
          <a:p>
            <a:pPr algn="l" fontAlgn="auto"/>
            <a:r>
              <a:rPr lang="en-US" sz="6000" b="1" i="0" dirty="0">
                <a:effectLst/>
                <a:latin typeface="var(--artdeco-reset-typography-font-family-sans)"/>
              </a:rPr>
              <a:t>Properties with Private Setters: </a:t>
            </a:r>
            <a:r>
              <a:rPr lang="en-US" sz="6000" b="0" i="0" dirty="0">
                <a:effectLst/>
                <a:latin typeface="-apple-system"/>
              </a:rPr>
              <a:t>You can also create a property with a private set accessor, which can only be set within the class it is defined.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91509844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FC56067-669F-2789-8ADC-3486B2E2FE4D}"/>
              </a:ext>
            </a:extLst>
          </p:cNvPr>
          <p:cNvSpPr txBox="1"/>
          <p:nvPr/>
        </p:nvSpPr>
        <p:spPr>
          <a:xfrm>
            <a:off x="7853667" y="1582637"/>
            <a:ext cx="8675077" cy="89562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//Fully-Implemented</a:t>
            </a:r>
          </a:p>
          <a:p>
            <a:endParaRPr lang="en-US" sz="4800" dirty="0">
              <a:solidFill>
                <a:schemeClr val="bg1"/>
              </a:solidFill>
            </a:endParaRPr>
          </a:p>
          <a:p>
            <a:r>
              <a:rPr lang="en-US" sz="4800" dirty="0">
                <a:solidFill>
                  <a:schemeClr val="bg1"/>
                </a:solidFill>
              </a:rPr>
              <a:t>public string Name </a:t>
            </a:r>
          </a:p>
          <a:p>
            <a:r>
              <a:rPr lang="en-US" sz="4800" dirty="0">
                <a:solidFill>
                  <a:schemeClr val="bg1"/>
                </a:solidFill>
              </a:rPr>
              <a:t>{</a:t>
            </a:r>
          </a:p>
          <a:p>
            <a:r>
              <a:rPr lang="en-US" sz="4800" dirty="0">
                <a:solidFill>
                  <a:schemeClr val="bg1"/>
                </a:solidFill>
              </a:rPr>
              <a:t>    get { return name; }</a:t>
            </a:r>
          </a:p>
          <a:p>
            <a:r>
              <a:rPr lang="en-US" sz="4800" dirty="0">
                <a:solidFill>
                  <a:schemeClr val="bg1"/>
                </a:solidFill>
              </a:rPr>
              <a:t>    set { name = value; }</a:t>
            </a:r>
          </a:p>
          <a:p>
            <a:r>
              <a:rPr lang="en-US" sz="4800" dirty="0">
                <a:solidFill>
                  <a:schemeClr val="bg1"/>
                </a:solidFill>
              </a:rPr>
              <a:t>}</a:t>
            </a:r>
          </a:p>
          <a:p>
            <a:endParaRPr lang="en-US" sz="4800" dirty="0">
              <a:solidFill>
                <a:schemeClr val="bg1"/>
              </a:solidFill>
            </a:endParaRPr>
          </a:p>
          <a:p>
            <a:endParaRPr lang="en-US" sz="4800" dirty="0">
              <a:solidFill>
                <a:schemeClr val="bg1"/>
              </a:solidFill>
            </a:endParaRPr>
          </a:p>
          <a:p>
            <a:r>
              <a:rPr lang="en-US" sz="4800" dirty="0">
                <a:solidFill>
                  <a:schemeClr val="bg1"/>
                </a:solidFill>
              </a:rPr>
              <a:t>//Automatically-Implemented</a:t>
            </a:r>
          </a:p>
          <a:p>
            <a:endParaRPr lang="en-US" sz="4800" dirty="0">
              <a:solidFill>
                <a:schemeClr val="bg1"/>
              </a:solidFill>
            </a:endParaRPr>
          </a:p>
          <a:p>
            <a:r>
              <a:rPr lang="en-US" sz="4800" dirty="0">
                <a:solidFill>
                  <a:schemeClr val="bg1"/>
                </a:solidFill>
              </a:rPr>
              <a:t>public string Name { get; set; }</a:t>
            </a:r>
            <a:endParaRPr lang="en-CA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729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7576A-E98B-4F2A-3C11-5F0AC1E9B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520DC-6578-4C0D-276B-D9F5923E6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291" y="839421"/>
            <a:ext cx="21029831" cy="2651126"/>
          </a:xfrm>
        </p:spPr>
        <p:txBody>
          <a:bodyPr/>
          <a:lstStyle/>
          <a:p>
            <a:r>
              <a:rPr lang="en-CA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0D4A2-1528-C1EB-B213-A1AE7BFFB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Two types of exceptions, expected and unexpected</a:t>
            </a:r>
          </a:p>
          <a:p>
            <a:r>
              <a:rPr lang="en-CA" dirty="0"/>
              <a:t>Can (should) be handled inside of your code (try/catch block)</a:t>
            </a:r>
          </a:p>
          <a:p>
            <a:r>
              <a:rPr lang="en-CA" dirty="0"/>
              <a:t>Generally occur when data of the wrong type is passed into your code</a:t>
            </a:r>
          </a:p>
          <a:p>
            <a:r>
              <a:rPr lang="en-CA" dirty="0"/>
              <a:t>Will happen at run time, not compile time</a:t>
            </a:r>
          </a:p>
          <a:p>
            <a:r>
              <a:rPr lang="en-CA" dirty="0"/>
              <a:t>Unhandled exceptions are known as bugs and will often crash your program</a:t>
            </a:r>
          </a:p>
        </p:txBody>
      </p:sp>
    </p:spTree>
    <p:extLst>
      <p:ext uri="{BB962C8B-B14F-4D97-AF65-F5344CB8AC3E}">
        <p14:creationId xmlns:p14="http://schemas.microsoft.com/office/powerpoint/2010/main" val="3669926387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C06F3-4F49-D056-CC5F-0C444323D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0421F-1E03-532B-C369-8FE4B3D54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291" y="839421"/>
            <a:ext cx="21029831" cy="2651126"/>
          </a:xfrm>
        </p:spPr>
        <p:txBody>
          <a:bodyPr/>
          <a:lstStyle/>
          <a:p>
            <a:r>
              <a:rPr lang="en-CA" dirty="0"/>
              <a:t>Exceptions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9B2C8-BBC4-C73C-E976-CBA9A6727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As we’re writing our own Class Libraries, we’re responsible for throwing exceptions:</a:t>
            </a:r>
          </a:p>
          <a:p>
            <a:pPr lvl="1"/>
            <a:r>
              <a:rPr lang="en-CA" dirty="0"/>
              <a:t>throw new </a:t>
            </a:r>
            <a:r>
              <a:rPr lang="en-CA" dirty="0" err="1"/>
              <a:t>ArgumentException</a:t>
            </a:r>
            <a:r>
              <a:rPr lang="en-CA" dirty="0"/>
              <a:t>(“Exception Info”)</a:t>
            </a:r>
          </a:p>
          <a:p>
            <a:r>
              <a:rPr lang="en-CA" dirty="0"/>
              <a:t>Exceptions should have a clear message and include the Property value that caused the exception</a:t>
            </a:r>
          </a:p>
          <a:p>
            <a:r>
              <a:rPr lang="en-CA" dirty="0"/>
              <a:t>There are </a:t>
            </a:r>
            <a:r>
              <a:rPr lang="en-CA" dirty="0">
                <a:hlinkClick r:id="rId2"/>
              </a:rPr>
              <a:t>lots of exceptions</a:t>
            </a:r>
            <a:r>
              <a:rPr lang="en-CA" dirty="0"/>
              <a:t>. We’ll be starting with:</a:t>
            </a:r>
          </a:p>
          <a:p>
            <a:pPr lvl="1"/>
            <a:r>
              <a:rPr lang="en-CA" dirty="0" err="1"/>
              <a:t>ArgumentException</a:t>
            </a:r>
            <a:r>
              <a:rPr lang="en-CA" dirty="0"/>
              <a:t> – General catch all of something being wrong</a:t>
            </a:r>
          </a:p>
          <a:p>
            <a:pPr lvl="1"/>
            <a:r>
              <a:rPr lang="en-CA" dirty="0" err="1"/>
              <a:t>ArgumentOutOfRangeException</a:t>
            </a:r>
            <a:r>
              <a:rPr lang="en-CA" dirty="0"/>
              <a:t> – For when a value outside the expected range is passed</a:t>
            </a:r>
          </a:p>
          <a:p>
            <a:pPr lvl="1"/>
            <a:r>
              <a:rPr lang="en-CA" dirty="0" err="1"/>
              <a:t>ArgumentNullException</a:t>
            </a:r>
            <a:r>
              <a:rPr lang="en-CA" dirty="0"/>
              <a:t> – For required Properties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71521214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FE6AB-4C60-17DC-D52E-5FA778186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Enum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5C0B9-8519-ACCC-DC20-263F1F8C1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291" y="3651250"/>
            <a:ext cx="13163659" cy="7373801"/>
          </a:xfrm>
        </p:spPr>
        <p:txBody>
          <a:bodyPr>
            <a:normAutofit fontScale="92500"/>
          </a:bodyPr>
          <a:lstStyle/>
          <a:p>
            <a:r>
              <a:rPr lang="en-US" dirty="0"/>
              <a:t>An </a:t>
            </a:r>
            <a:r>
              <a:rPr lang="en-US" dirty="0" err="1"/>
              <a:t>enum</a:t>
            </a:r>
            <a:r>
              <a:rPr lang="en-US" dirty="0"/>
              <a:t> is a special "class" that represents a group of constants (unchangeable/read-only variables).</a:t>
            </a:r>
          </a:p>
          <a:p>
            <a:r>
              <a:rPr lang="en-US" dirty="0"/>
              <a:t>To create an </a:t>
            </a:r>
            <a:r>
              <a:rPr lang="en-US" dirty="0" err="1"/>
              <a:t>enum</a:t>
            </a:r>
            <a:r>
              <a:rPr lang="en-US" dirty="0"/>
              <a:t>, use the </a:t>
            </a:r>
            <a:r>
              <a:rPr lang="en-US" dirty="0" err="1"/>
              <a:t>enum</a:t>
            </a:r>
            <a:r>
              <a:rPr lang="en-US" dirty="0"/>
              <a:t> keyword (instead of class or interface), and separate the </a:t>
            </a:r>
            <a:r>
              <a:rPr lang="en-US" dirty="0" err="1"/>
              <a:t>enum</a:t>
            </a:r>
            <a:r>
              <a:rPr lang="en-US" dirty="0"/>
              <a:t> items with a comma.</a:t>
            </a:r>
          </a:p>
          <a:p>
            <a:r>
              <a:rPr lang="en-US" dirty="0"/>
              <a:t>By default, the first item of an </a:t>
            </a:r>
            <a:r>
              <a:rPr lang="en-US" dirty="0" err="1"/>
              <a:t>enum</a:t>
            </a:r>
            <a:r>
              <a:rPr lang="en-US" dirty="0"/>
              <a:t> has the value 0. The second has the value 1, and so on.</a:t>
            </a:r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511608-EE68-9BC4-BD37-8AA118C99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8199" y="2428512"/>
            <a:ext cx="9442074" cy="770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379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9C6A6C-CB3A-1829-077F-F91B7A3B5F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934502108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51512-A3A0-68FC-EA4D-9644DA669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Lesson Objective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812E9-0C28-92B4-141A-B86CEC8CB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By the end of this lesson, learners should be able to:</a:t>
            </a:r>
          </a:p>
          <a:p>
            <a:pPr lvl="1"/>
            <a:r>
              <a:rPr lang="en-CA" dirty="0"/>
              <a:t>Define public/private/internal variables</a:t>
            </a:r>
          </a:p>
          <a:p>
            <a:pPr lvl="1"/>
            <a:r>
              <a:rPr lang="en-CA" dirty="0"/>
              <a:t>Use the #region keyword</a:t>
            </a:r>
          </a:p>
          <a:p>
            <a:pPr lvl="1"/>
            <a:r>
              <a:rPr lang="en-CA" dirty="0"/>
              <a:t>Define Attributes, Behaviours, Properties, and Constructors</a:t>
            </a:r>
          </a:p>
          <a:p>
            <a:pPr lvl="1"/>
            <a:r>
              <a:rPr lang="en-CA" dirty="0"/>
              <a:t>Use the principle of Encapsulation</a:t>
            </a:r>
          </a:p>
          <a:p>
            <a:pPr lvl="1"/>
            <a:r>
              <a:rPr lang="en-CA" dirty="0"/>
              <a:t>Define Auto-Implemented vs Fully-Implemented Properties</a:t>
            </a:r>
          </a:p>
          <a:p>
            <a:pPr lvl="1"/>
            <a:r>
              <a:rPr lang="en-CA" dirty="0"/>
              <a:t>Use Exceptions</a:t>
            </a:r>
          </a:p>
        </p:txBody>
      </p:sp>
    </p:spTree>
    <p:extLst>
      <p:ext uri="{BB962C8B-B14F-4D97-AF65-F5344CB8AC3E}">
        <p14:creationId xmlns:p14="http://schemas.microsoft.com/office/powerpoint/2010/main" val="1202577860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1C861-D5BD-C84D-939D-4E463845F8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006232122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5155DD-3A01-AFDE-9BAA-4442EB9EA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EEBC9E-AB2F-FC9A-FD2C-931B741E7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Identifier names - rules and conventions - C# | Microsoft Learn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626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0D8F21E27A1046B906AB74EEBC017F" ma:contentTypeVersion="13" ma:contentTypeDescription="Create a new document." ma:contentTypeScope="" ma:versionID="afd610e14939d1014c69da18b837b873">
  <xsd:schema xmlns:xsd="http://www.w3.org/2001/XMLSchema" xmlns:xs="http://www.w3.org/2001/XMLSchema" xmlns:p="http://schemas.microsoft.com/office/2006/metadata/properties" xmlns:ns3="a33e3031-a624-439f-9365-f35f4095a06e" xmlns:ns4="94b94c66-98ff-4edc-91a0-3cbab99a930f" targetNamespace="http://schemas.microsoft.com/office/2006/metadata/properties" ma:root="true" ma:fieldsID="cd898ab2a322cfd7e7115a6031bba6b9" ns3:_="" ns4:_="">
    <xsd:import namespace="a33e3031-a624-439f-9365-f35f4095a06e"/>
    <xsd:import namespace="94b94c66-98ff-4edc-91a0-3cbab99a930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3e3031-a624-439f-9365-f35f4095a06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b94c66-98ff-4edc-91a0-3cbab99a930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33e3031-a624-439f-9365-f35f4095a06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E3E0FC-5BC5-4A9D-812C-9D29885BC6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3e3031-a624-439f-9365-f35f4095a06e"/>
    <ds:schemaRef ds:uri="94b94c66-98ff-4edc-91a0-3cbab99a930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856E63F-A8C0-4586-AFCD-69964B5AAAEB}">
  <ds:schemaRefs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purl.org/dc/terms/"/>
    <ds:schemaRef ds:uri="94b94c66-98ff-4edc-91a0-3cbab99a930f"/>
    <ds:schemaRef ds:uri="a33e3031-a624-439f-9365-f35f4095a06e"/>
  </ds:schemaRefs>
</ds:datastoreItem>
</file>

<file path=customXml/itemProps3.xml><?xml version="1.0" encoding="utf-8"?>
<ds:datastoreItem xmlns:ds="http://schemas.openxmlformats.org/officeDocument/2006/customXml" ds:itemID="{177E4845-7472-4B0C-A0C7-BE9A32CE6DC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NAIT-Brand-PPT_TEMPLATE_2020</Template>
  <TotalTime>2253</TotalTime>
  <Words>989</Words>
  <Application>Microsoft Office PowerPoint</Application>
  <PresentationFormat>Custom</PresentationFormat>
  <Paragraphs>120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-apple-system</vt:lpstr>
      <vt:lpstr>Aptos</vt:lpstr>
      <vt:lpstr>Arial</vt:lpstr>
      <vt:lpstr>Calibri</vt:lpstr>
      <vt:lpstr>medium-content-sans-serif-font</vt:lpstr>
      <vt:lpstr>source-serif-pro</vt:lpstr>
      <vt:lpstr>var(--artdeco-reset-typography-font-family-sans)</vt:lpstr>
      <vt:lpstr>Office Theme</vt:lpstr>
      <vt:lpstr>Cpsc1517</vt:lpstr>
      <vt:lpstr>Lesson Objective</vt:lpstr>
      <vt:lpstr>Exploring the Topic</vt:lpstr>
      <vt:lpstr>Class Nameing Conventions</vt:lpstr>
      <vt:lpstr>Class Terminology</vt:lpstr>
      <vt:lpstr>Encapsulation</vt:lpstr>
      <vt:lpstr>Access Modifiers</vt:lpstr>
      <vt:lpstr>PowerPoint Presentation</vt:lpstr>
      <vt:lpstr>Class Library</vt:lpstr>
      <vt:lpstr>#region</vt:lpstr>
      <vt:lpstr>PROPERTIES</vt:lpstr>
      <vt:lpstr>Auto-implement vs Fully-Implement</vt:lpstr>
      <vt:lpstr>Auto-implement vs Fully-Implement</vt:lpstr>
      <vt:lpstr>PowerPoint Presentation</vt:lpstr>
      <vt:lpstr>Exceptions</vt:lpstr>
      <vt:lpstr>Exceptions cont.</vt:lpstr>
      <vt:lpstr>Enum</vt:lpstr>
      <vt:lpstr>Example</vt:lpstr>
      <vt:lpstr>Lesson Objective Review</vt:lpstr>
      <vt:lpstr>Thank you!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PTE 200 F2F Lesson</dc:title>
  <dc:creator>Michael Cimolini</dc:creator>
  <cp:lastModifiedBy>Baljeet Kaur</cp:lastModifiedBy>
  <cp:revision>16</cp:revision>
  <cp:lastPrinted>2019-08-01T00:13:24Z</cp:lastPrinted>
  <dcterms:created xsi:type="dcterms:W3CDTF">2024-08-13T01:55:57Z</dcterms:created>
  <dcterms:modified xsi:type="dcterms:W3CDTF">2026-01-19T19:07:09Z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 - Department">
    <vt:lpwstr>197;#Brand|943f07b5-0abf-4eba-9a92-bb911ec4797c</vt:lpwstr>
  </property>
  <property fmtid="{D5CDD505-2E9C-101B-9397-08002B2CF9AE}" pid="3" name="Topic">
    <vt:lpwstr/>
  </property>
  <property fmtid="{D5CDD505-2E9C-101B-9397-08002B2CF9AE}" pid="4" name="Building">
    <vt:lpwstr/>
  </property>
  <property fmtid="{D5CDD505-2E9C-101B-9397-08002B2CF9AE}" pid="5" name="ContentTypeId">
    <vt:lpwstr>0x010100A60D8F21E27A1046B906AB74EEBC017F</vt:lpwstr>
  </property>
  <property fmtid="{D5CDD505-2E9C-101B-9397-08002B2CF9AE}" pid="6" name="Target Audience">
    <vt:lpwstr/>
  </property>
  <property fmtid="{D5CDD505-2E9C-101B-9397-08002B2CF9AE}" pid="7" name="_dlc_DocIdItemGuid">
    <vt:lpwstr>a4d56298-c866-45f0-a3db-be918181ebef</vt:lpwstr>
  </property>
  <property fmtid="{D5CDD505-2E9C-101B-9397-08002B2CF9AE}" pid="8" name="PublishedDocument.Location">
    <vt:lpwstr/>
  </property>
  <property fmtid="{D5CDD505-2E9C-101B-9397-08002B2CF9AE}" pid="9" name="Program">
    <vt:lpwstr/>
  </property>
  <property fmtid="{D5CDD505-2E9C-101B-9397-08002B2CF9AE}" pid="10" name="MSIP_Label_10877899-02b0-462c-b2a9-b7d15c4f96fe_Enabled">
    <vt:lpwstr>true</vt:lpwstr>
  </property>
  <property fmtid="{D5CDD505-2E9C-101B-9397-08002B2CF9AE}" pid="11" name="MSIP_Label_10877899-02b0-462c-b2a9-b7d15c4f96fe_SetDate">
    <vt:lpwstr>2026-01-19T19:07:09Z</vt:lpwstr>
  </property>
  <property fmtid="{D5CDD505-2E9C-101B-9397-08002B2CF9AE}" pid="12" name="MSIP_Label_10877899-02b0-462c-b2a9-b7d15c4f96fe_Method">
    <vt:lpwstr>Standard</vt:lpwstr>
  </property>
  <property fmtid="{D5CDD505-2E9C-101B-9397-08002B2CF9AE}" pid="13" name="MSIP_Label_10877899-02b0-462c-b2a9-b7d15c4f96fe_Name">
    <vt:lpwstr>Protected [Protected A]</vt:lpwstr>
  </property>
  <property fmtid="{D5CDD505-2E9C-101B-9397-08002B2CF9AE}" pid="14" name="MSIP_Label_10877899-02b0-462c-b2a9-b7d15c4f96fe_SiteId">
    <vt:lpwstr>5c98fb47-d3b9-4649-9d94-f88cbdd9729c</vt:lpwstr>
  </property>
  <property fmtid="{D5CDD505-2E9C-101B-9397-08002B2CF9AE}" pid="15" name="MSIP_Label_10877899-02b0-462c-b2a9-b7d15c4f96fe_ActionId">
    <vt:lpwstr>4e15c225-a143-48da-9362-79ddb2c8dfef</vt:lpwstr>
  </property>
  <property fmtid="{D5CDD505-2E9C-101B-9397-08002B2CF9AE}" pid="16" name="MSIP_Label_10877899-02b0-462c-b2a9-b7d15c4f96fe_ContentBits">
    <vt:lpwstr>0</vt:lpwstr>
  </property>
  <property fmtid="{D5CDD505-2E9C-101B-9397-08002B2CF9AE}" pid="17" name="MSIP_Label_10877899-02b0-462c-b2a9-b7d15c4f96fe_Tag">
    <vt:lpwstr>10, 3, 0, 1</vt:lpwstr>
  </property>
</Properties>
</file>